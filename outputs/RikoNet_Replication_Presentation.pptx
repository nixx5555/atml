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2A78D6"/>
              </a:solidFill>
            </c:spPr>
          </c:dPt>
          <c:dPt>
            <c:idx val="1"/>
            <c:spPr>
              <a:solidFill>
                <a:srgbClr val="A9A8A2"/>
              </a:solidFill>
            </c:spPr>
          </c:dPt>
          <c:dPt>
            <c:idx val="2"/>
            <c:spPr>
              <a:solidFill>
                <a:srgbClr val="A9A8A2"/>
              </a:solidFill>
            </c:spPr>
          </c:dPt>
          <c:dPt>
            <c:idx val="3"/>
            <c:spPr>
              <a:solidFill>
                <a:srgbClr val="A9A8A2"/>
              </a:solidFill>
            </c:spPr>
          </c:dPt>
          <c:dPt>
            <c:idx val="4"/>
            <c:spPr>
              <a:solidFill>
                <a:srgbClr val="A9A8A2"/>
              </a:solidFill>
            </c:spPr>
          </c:dPt>
          <c:dPt>
            <c:idx val="5"/>
            <c:spPr>
              <a:solidFill>
                <a:srgbClr val="2A78D6"/>
              </a:solidFill>
            </c:spPr>
          </c:dPt>
          <c:dPt>
            <c:idx val="6"/>
            <c:spPr>
              <a:solidFill>
                <a:srgbClr val="A9A8A2"/>
              </a:solidFill>
            </c:spPr>
          </c:dPt>
          <c:dPt>
            <c:idx val="7"/>
            <c:spPr>
              <a:solidFill>
                <a:srgbClr val="A9A8A2"/>
              </a:solidFill>
            </c:spPr>
          </c:dPt>
          <c:dPt>
            <c:idx val="8"/>
            <c:spPr>
              <a:solidFill>
                <a:srgbClr val="A9A8A2"/>
              </a:solidFill>
            </c:spPr>
          </c:dPt>
          <c:dPt>
            <c:idx val="9"/>
            <c:spPr>
              <a:solidFill>
                <a:srgbClr val="EB6834"/>
              </a:solidFill>
            </c:spPr>
          </c:dPt>
          <c:cat>
            <c:strRef>
              <c:f>Sheet1!$A$2:$A$11</c:f>
              <c:strCache>
                <c:ptCount val="10"/>
                <c:pt idx="0">
                  <c:v>RikoNet AE (tuned)</c:v>
                </c:pt>
                <c:pt idx="1">
                  <c:v>Biased MF (ALS)</c:v>
                </c:pt>
                <c:pt idx="2">
                  <c:v>Bias baseline</c:v>
                </c:pt>
                <c:pt idx="3">
                  <c:v>Item KNN</c:v>
                </c:pt>
                <c:pt idx="4">
                  <c:v>User KNN</c:v>
                </c:pt>
                <c:pt idx="5">
                  <c:v>RikoNet AE (K&amp;G default)</c:v>
                </c:pt>
                <c:pt idx="6">
                  <c:v>Item average</c:v>
                </c:pt>
                <c:pt idx="7">
                  <c:v>User average</c:v>
                </c:pt>
                <c:pt idx="8">
                  <c:v>Global average</c:v>
                </c:pt>
                <c:pt idx="9">
                  <c:v>RikoNet (paper)</c:v>
                </c:pt>
              </c:strCache>
            </c:strRef>
          </c:cat>
          <c:val>
            <c:numRef>
              <c:f>Sheet1!$B$2:$B$11</c:f>
              <c:numCache>
                <c:formatCode>General</c:formatCode>
                <c:ptCount val="10"/>
                <c:pt idx="0">
                  <c:v>0.942031891508706</c:v>
                </c:pt>
                <c:pt idx="1">
                  <c:v>0.9423731037489684</c:v>
                </c:pt>
                <c:pt idx="2">
                  <c:v>0.9505502913974778</c:v>
                </c:pt>
                <c:pt idx="3">
                  <c:v>0.9662660008199956</c:v>
                </c:pt>
                <c:pt idx="4">
                  <c:v>0.9834612283671461</c:v>
                </c:pt>
                <c:pt idx="5">
                  <c:v>0.9986898449333049</c:v>
                </c:pt>
                <c:pt idx="6">
                  <c:v>1.0338588429432511</c:v>
                </c:pt>
                <c:pt idx="7">
                  <c:v>1.0418001979435898</c:v>
                </c:pt>
                <c:pt idx="8">
                  <c:v>1.1267018161930022</c:v>
                </c:pt>
                <c:pt idx="9">
                  <c:v>0.591</c:v>
                </c:pt>
              </c:numCache>
            </c:numRef>
          </c:val>
        </c:ser>
        <c:dLbls>
          <c:numFmt formatCode="0.000" sourceLinked="0"/>
          <c:txPr>
            <a:bodyPr/>
            <a:lstStyle/>
            <a:p>
              <a:pPr>
                <a:defRPr sz="1100">
                  <a:solidFill>
                    <a:srgbClr val="1F1B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CFCA"/>
            </a:solidFill>
          </a:ln>
        </c:spPr>
        <c:txPr>
          <a:bodyPr/>
          <a:lstStyle/>
          <a:p>
            <a:pPr>
              <a:defRPr sz="1100"/>
            </a:pPr>
          </a:p>
        </c:txPr>
        <c:crossAx val="-2113994440"/>
        <c:crosses val="autoZero"/>
        <c:auto val="1"/>
        <c:lblAlgn val="ctr"/>
        <c:lblOffset val="100"/>
        <c:noMultiLvlLbl val="0"/>
      </c:catAx>
      <c:valAx>
        <c:axId val="-2113994440"/>
        <c:scaling>
          <c:max val="1.3"/>
          <c:min val="0.0"/>
        </c:scaling>
        <c:delete val="0"/>
        <c:axPos val="b"/>
        <c:majorGridlines>
          <c:spPr>
            <a:ln>
              <a:solidFill>
                <a:srgbClr val="E6E5E0"/>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200">
          <a:solidFill>
            <a:srgbClr val="3D3A5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1B3A"/>
                </a:solidFill>
                <a:latin typeface="Calibri"/>
              </a:rPr>
              <a:t>Test RMSE (1-10 scale)</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A9A8A2"/>
              </a:solidFill>
            </c:spPr>
          </c:dPt>
          <c:dPt>
            <c:idx val="1"/>
            <c:spPr>
              <a:solidFill>
                <a:srgbClr val="A9A8A2"/>
              </a:solidFill>
            </c:spPr>
          </c:dPt>
          <c:dPt>
            <c:idx val="2"/>
            <c:spPr>
              <a:solidFill>
                <a:srgbClr val="2A78D6"/>
              </a:solidFill>
            </c:spPr>
          </c:dPt>
          <c:dPt>
            <c:idx val="3"/>
            <c:spPr>
              <a:solidFill>
                <a:srgbClr val="A9A8A2"/>
              </a:solidFill>
            </c:spPr>
          </c:dPt>
          <c:dPt>
            <c:idx val="4"/>
            <c:spPr>
              <a:solidFill>
                <a:srgbClr val="A9A8A2"/>
              </a:solidFill>
            </c:spPr>
          </c:dPt>
          <c:dPt>
            <c:idx val="5"/>
            <c:spPr>
              <a:solidFill>
                <a:srgbClr val="A9A8A2"/>
              </a:solidFill>
            </c:spPr>
          </c:dPt>
          <c:dPt>
            <c:idx val="6"/>
            <c:spPr>
              <a:solidFill>
                <a:srgbClr val="A9A8A2"/>
              </a:solidFill>
            </c:spPr>
          </c:dPt>
          <c:dPt>
            <c:idx val="7"/>
            <c:spPr>
              <a:solidFill>
                <a:srgbClr val="A9A8A2"/>
              </a:solidFill>
            </c:spPr>
          </c:dPt>
          <c:cat>
            <c:strRef>
              <c:f>Sheet1!$A$2:$A$9</c:f>
              <c:strCache>
                <c:ptCount val="8"/>
                <c:pt idx="0">
                  <c:v>Item KNN</c:v>
                </c:pt>
                <c:pt idx="1">
                  <c:v>Biased MF (ALS)</c:v>
                </c:pt>
                <c:pt idx="2">
                  <c:v>RikoNet AE (tuned)</c:v>
                </c:pt>
                <c:pt idx="3">
                  <c:v>Bias baseline</c:v>
                </c:pt>
                <c:pt idx="4">
                  <c:v>User KNN</c:v>
                </c:pt>
                <c:pt idx="5">
                  <c:v>User average</c:v>
                </c:pt>
                <c:pt idx="6">
                  <c:v>Item average</c:v>
                </c:pt>
                <c:pt idx="7">
                  <c:v>Global average</c:v>
                </c:pt>
              </c:strCache>
            </c:strRef>
          </c:cat>
          <c:val>
            <c:numRef>
              <c:f>Sheet1!$B$2:$B$9</c:f>
              <c:numCache>
                <c:formatCode>General</c:formatCode>
                <c:ptCount val="8"/>
                <c:pt idx="0">
                  <c:v>1.066440903097112</c:v>
                </c:pt>
                <c:pt idx="1">
                  <c:v>1.099958239109435</c:v>
                </c:pt>
                <c:pt idx="2">
                  <c:v>1.1736338322914837</c:v>
                </c:pt>
                <c:pt idx="3">
                  <c:v>1.183640784408641</c:v>
                </c:pt>
                <c:pt idx="4">
                  <c:v>1.1977677404737652</c:v>
                </c:pt>
                <c:pt idx="5">
                  <c:v>1.357614495312191</c:v>
                </c:pt>
                <c:pt idx="6">
                  <c:v>1.4279174687287113</c:v>
                </c:pt>
                <c:pt idx="7">
                  <c:v>1.5659511599518723</c:v>
                </c:pt>
              </c:numCache>
            </c:numRef>
          </c:val>
        </c:ser>
        <c:dLbls>
          <c:numFmt formatCode="0.000" sourceLinked="0"/>
          <c:txPr>
            <a:bodyPr/>
            <a:lstStyle/>
            <a:p>
              <a:pPr>
                <a:defRPr sz="1100">
                  <a:solidFill>
                    <a:srgbClr val="1F1B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CFCA"/>
            </a:solidFill>
          </a:ln>
        </c:spPr>
        <c:txPr>
          <a:bodyPr/>
          <a:lstStyle/>
          <a:p>
            <a:pPr>
              <a:defRPr sz="1100"/>
            </a:pPr>
          </a:p>
        </c:txPr>
        <c:crossAx val="-2113994440"/>
        <c:crosses val="autoZero"/>
        <c:auto val="1"/>
        <c:lblAlgn val="ctr"/>
        <c:lblOffset val="100"/>
        <c:noMultiLvlLbl val="0"/>
      </c:catAx>
      <c:valAx>
        <c:axId val="-2113994440"/>
        <c:scaling>
          <c:max val="1.8"/>
          <c:min val="0.0"/>
        </c:scaling>
        <c:delete val="0"/>
        <c:axPos val="b"/>
        <c:majorGridlines>
          <c:spPr>
            <a:ln>
              <a:solidFill>
                <a:srgbClr val="E6E5E0"/>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200">
          <a:solidFill>
            <a:srgbClr val="3D3A5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1B3A"/>
                </a:solidFill>
                <a:latin typeface="Calibri"/>
              </a:rPr>
              <a:t>NDCG@10 (higher is better)</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A9A8A2"/>
              </a:solidFill>
            </c:spPr>
          </c:dPt>
          <c:dPt>
            <c:idx val="1"/>
            <c:spPr>
              <a:solidFill>
                <a:srgbClr val="A9A8A2"/>
              </a:solidFill>
            </c:spPr>
          </c:dPt>
          <c:dPt>
            <c:idx val="2"/>
            <c:spPr>
              <a:solidFill>
                <a:srgbClr val="A9A8A2"/>
              </a:solidFill>
            </c:spPr>
          </c:dPt>
          <c:dPt>
            <c:idx val="3"/>
            <c:spPr>
              <a:solidFill>
                <a:srgbClr val="A9A8A2"/>
              </a:solidFill>
            </c:spPr>
          </c:dPt>
          <c:dPt>
            <c:idx val="4"/>
            <c:spPr>
              <a:solidFill>
                <a:srgbClr val="2A78D6"/>
              </a:solidFill>
            </c:spPr>
          </c:dPt>
          <c:dPt>
            <c:idx val="5"/>
            <c:spPr>
              <a:solidFill>
                <a:srgbClr val="A9A8A2"/>
              </a:solidFill>
            </c:spPr>
          </c:dPt>
          <c:dPt>
            <c:idx val="6"/>
            <c:spPr>
              <a:solidFill>
                <a:srgbClr val="A9A8A2"/>
              </a:solidFill>
            </c:spPr>
          </c:dPt>
          <c:dPt>
            <c:idx val="7"/>
            <c:spPr>
              <a:solidFill>
                <a:srgbClr val="A9A8A2"/>
              </a:solidFill>
            </c:spPr>
          </c:dPt>
          <c:dPt>
            <c:idx val="8"/>
            <c:spPr>
              <a:solidFill>
                <a:srgbClr val="A9A8A2"/>
              </a:solidFill>
            </c:spPr>
          </c:dPt>
          <c:dPt>
            <c:idx val="9"/>
            <c:spPr>
              <a:solidFill>
                <a:srgbClr val="A9A8A2"/>
              </a:solidFill>
            </c:spPr>
          </c:dPt>
          <c:cat>
            <c:strRef>
              <c:f>Sheet1!$A$2:$A$11</c:f>
              <c:strCache>
                <c:ptCount val="10"/>
                <c:pt idx="0">
                  <c:v>Most popular</c:v>
                </c:pt>
                <c:pt idx="1">
                  <c:v>Biased MF (ALS)</c:v>
                </c:pt>
                <c:pt idx="2">
                  <c:v>Item average</c:v>
                </c:pt>
                <c:pt idx="3">
                  <c:v>Bias baseline</c:v>
                </c:pt>
                <c:pt idx="4">
                  <c:v>RikoNet AE (tuned)</c:v>
                </c:pt>
                <c:pt idx="5">
                  <c:v>Item KNN</c:v>
                </c:pt>
                <c:pt idx="6">
                  <c:v>Global average</c:v>
                </c:pt>
                <c:pt idx="7">
                  <c:v>User average</c:v>
                </c:pt>
                <c:pt idx="8">
                  <c:v>User KNN</c:v>
                </c:pt>
                <c:pt idx="9">
                  <c:v>Random</c:v>
                </c:pt>
              </c:strCache>
            </c:strRef>
          </c:cat>
          <c:val>
            <c:numRef>
              <c:f>Sheet1!$B$2:$B$11</c:f>
              <c:numCache>
                <c:formatCode>General</c:formatCode>
                <c:ptCount val="10"/>
                <c:pt idx="0">
                  <c:v>0.09191224753193161</c:v>
                </c:pt>
                <c:pt idx="1">
                  <c:v>0.0323429776887532</c:v>
                </c:pt>
                <c:pt idx="2">
                  <c:v>0.017595982936122283</c:v>
                </c:pt>
                <c:pt idx="3">
                  <c:v>0.014630133298676235</c:v>
                </c:pt>
                <c:pt idx="4">
                  <c:v>0.014478469991478737</c:v>
                </c:pt>
                <c:pt idx="5">
                  <c:v>0.005156491653791172</c:v>
                </c:pt>
                <c:pt idx="6">
                  <c:v>0.00505225084719636</c:v>
                </c:pt>
                <c:pt idx="7">
                  <c:v>0.00505225084719636</c:v>
                </c:pt>
                <c:pt idx="8">
                  <c:v>0.0027440201565622595</c:v>
                </c:pt>
                <c:pt idx="9">
                  <c:v>0.0014652689231403903</c:v>
                </c:pt>
              </c:numCache>
            </c:numRef>
          </c:val>
        </c:ser>
        <c:dLbls>
          <c:numFmt formatCode="0.000" sourceLinked="0"/>
          <c:txPr>
            <a:bodyPr/>
            <a:lstStyle/>
            <a:p>
              <a:pPr>
                <a:defRPr sz="1100">
                  <a:solidFill>
                    <a:srgbClr val="1F1B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CFCA"/>
            </a:solidFill>
          </a:ln>
        </c:spPr>
        <c:txPr>
          <a:bodyPr/>
          <a:lstStyle/>
          <a:p>
            <a:pPr>
              <a:defRPr sz="1100"/>
            </a:pPr>
          </a:p>
        </c:txPr>
        <c:crossAx val="-2113994440"/>
        <c:crosses val="autoZero"/>
        <c:auto val="1"/>
        <c:lblAlgn val="ctr"/>
        <c:lblOffset val="100"/>
        <c:noMultiLvlLbl val="0"/>
      </c:catAx>
      <c:valAx>
        <c:axId val="-2113994440"/>
        <c:scaling>
          <c:max val="0.12"/>
          <c:min val="0.0"/>
        </c:scaling>
        <c:delete val="0"/>
        <c:axPos val="b"/>
        <c:majorGridlines>
          <c:spPr>
            <a:ln>
              <a:solidFill>
                <a:srgbClr val="E6E5E0"/>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200">
          <a:solidFill>
            <a:srgbClr val="3D3A5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1B3A"/>
                </a:solidFill>
                <a:latin typeface="Calibri"/>
              </a:rPr>
              <a:t>Genre overlap with the user's context titles</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A9A8A2"/>
              </a:solidFill>
            </c:spPr>
          </c:dPt>
          <c:dPt>
            <c:idx val="1"/>
            <c:spPr>
              <a:solidFill>
                <a:srgbClr val="2A78D6"/>
              </a:solidFill>
            </c:spPr>
          </c:dPt>
          <c:dPt>
            <c:idx val="2"/>
            <c:spPr>
              <a:solidFill>
                <a:srgbClr val="2A78D6"/>
              </a:solidFill>
            </c:spPr>
          </c:dPt>
          <c:cat>
            <c:strRef>
              <c:f>Sheet1!$A$2:$A$4</c:f>
              <c:strCache>
                <c:ptCount val="3"/>
                <c:pt idx="0">
                  <c:v>AE top-10</c:v>
                </c:pt>
                <c:pt idx="1">
                  <c:v>Similar Anime</c:v>
                </c:pt>
                <c:pt idx="2">
                  <c:v>You May Like</c:v>
                </c:pt>
              </c:strCache>
            </c:strRef>
          </c:cat>
          <c:val>
            <c:numRef>
              <c:f>Sheet1!$B$2:$B$4</c:f>
              <c:numCache>
                <c:formatCode>General</c:formatCode>
                <c:ptCount val="3"/>
                <c:pt idx="0">
                  <c:v>0.12961481469097152</c:v>
                </c:pt>
                <c:pt idx="1">
                  <c:v>0.16085540955852135</c:v>
                </c:pt>
                <c:pt idx="2">
                  <c:v>0.1286698048593228</c:v>
                </c:pt>
              </c:numCache>
            </c:numRef>
          </c:val>
        </c:ser>
        <c:dLbls>
          <c:numFmt formatCode="0.000" sourceLinked="0"/>
          <c:txPr>
            <a:bodyPr/>
            <a:lstStyle/>
            <a:p>
              <a:pPr>
                <a:defRPr sz="1100">
                  <a:solidFill>
                    <a:srgbClr val="1F1B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CFCA"/>
            </a:solidFill>
          </a:ln>
        </c:spPr>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E6E5E0"/>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200">
          <a:solidFill>
            <a:srgbClr val="3D3A5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1B3A"/>
                </a:solidFill>
                <a:latin typeface="Calibri"/>
              </a:rPr>
              <a:t>Precision@10 on held-out ratings</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A9A8A2"/>
              </a:solidFill>
            </c:spPr>
          </c:dPt>
          <c:dPt>
            <c:idx val="1"/>
            <c:spPr>
              <a:solidFill>
                <a:srgbClr val="2A78D6"/>
              </a:solidFill>
            </c:spPr>
          </c:dPt>
          <c:dPt>
            <c:idx val="2"/>
            <c:spPr>
              <a:solidFill>
                <a:srgbClr val="2A78D6"/>
              </a:solidFill>
            </c:spPr>
          </c:dPt>
          <c:cat>
            <c:strRef>
              <c:f>Sheet1!$A$2:$A$4</c:f>
              <c:strCache>
                <c:ptCount val="3"/>
                <c:pt idx="0">
                  <c:v>AE top-10</c:v>
                </c:pt>
                <c:pt idx="1">
                  <c:v>Similar Anime</c:v>
                </c:pt>
                <c:pt idx="2">
                  <c:v>You May Like</c:v>
                </c:pt>
              </c:strCache>
            </c:strRef>
          </c:cat>
          <c:val>
            <c:numRef>
              <c:f>Sheet1!$B$2:$B$4</c:f>
              <c:numCache>
                <c:formatCode>General</c:formatCode>
                <c:ptCount val="3"/>
                <c:pt idx="0">
                  <c:v>0.011332717759310558</c:v>
                </c:pt>
                <c:pt idx="1">
                  <c:v>0.019636811326562018</c:v>
                </c:pt>
                <c:pt idx="2">
                  <c:v>0.010864881502000616</c:v>
                </c:pt>
              </c:numCache>
            </c:numRef>
          </c:val>
        </c:ser>
        <c:dLbls>
          <c:numFmt formatCode="0.000" sourceLinked="0"/>
          <c:txPr>
            <a:bodyPr/>
            <a:lstStyle/>
            <a:p>
              <a:pPr>
                <a:defRPr sz="1100">
                  <a:solidFill>
                    <a:srgbClr val="1F1B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CFCA"/>
            </a:solidFill>
          </a:ln>
        </c:spPr>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E6E5E0"/>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200">
          <a:solidFill>
            <a:srgbClr val="3D3A5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paper. RikoNet was published in 2023 in Springer's Multimedia Tools and Applications, a subscription journal. The goal of this project: re-implement the method from the paper alone and check whether its reported results hold.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conclusion first so the audience knows where the talk is going. The three numbers: what the paper reports, what we got with the same dataset and protocol, and what a simple baseline gets.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Faculty asked for a closed-access Springer paper with public data. The journal version is subscription-only; mention honestly that an arXiv preprint exists. The anime dataset is private, which is why this is a simplified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row: the collaborative part. A user's ratings go through the autoencoder, which fills in ratings for everything unrated. Bottom row: the content part. Anime are embedded using ratings from heavy users plus genres, then clustered. The hybrid filter splits the predictions into titles inside the relevant clusters (Similar) and outside them (You May Like).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of masked MSE: zeros mean 'unknown', so they must not be treated as real ratings of zero. Dense re-feeding is a data-augmentation trick from the NVIDIA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this to the faculty: highlighted rows are where we had to deviate or guess, because the paper does not report the detail or the original resource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splitting per user matters: every user keeps most of their history as input, and the hidden 5 percent is what we try to predict. The validation split lets us tune without ever touching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bars are our RikoNet runs, grey bars are baselines trained by us on exactly the same split, and the orange bar is the number printed in the paper. All methods we trained sit in roughly the same band.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critical-thinking slide for ATML: the published comparison mixes numbers from different sources, and two rows are arithmetically inconsistent.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network, only the activation function changes. The paper reports SELU as best; the table shows the lowest validation MSE each activation reached.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rating error on held-out anime ratings. Right: quality of the top-10 list, counting a hit when the user rated the title 8 or more. Low rating error does not automatically give good top-10 lists; popularity is a strong ranking baseline on this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Genre overlap is the Jaccard similarity of two titles' genre sets. Inside a cluster it is much higher than for random pairs, so the embeddings capture content. The 'opposite' title shares fewer genres than random, which is what Algorithm 1 aims for.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chart: the Similar list is closer in genre to what the user just rated, which is its purpose. Bottom chart: hit rate against held-out ratings. Right: a real example from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takeaways. Emphasise that a failed reproduction is still a valid scientific result if it is done carefully and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main finding and the next steps, then open the floor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B3A"/>
        </a:solidFill>
        <a:effectLst/>
      </p:bgPr>
    </p:bg>
    <p:spTree>
      <p:nvGrpSpPr>
        <p:cNvPr id="1" name=""/>
        <p:cNvGrpSpPr/>
        <p:nvPr/>
      </p:nvGrpSpPr>
      <p:grpSpPr/>
      <p:sp>
        <p:nvSpPr>
          <p:cNvPr id="2" name="TextBox 1"/>
          <p:cNvSpPr txBox="1"/>
          <p:nvPr/>
        </p:nvSpPr>
        <p:spPr>
          <a:xfrm>
            <a:off x="731520" y="914400"/>
            <a:ext cx="10058400" cy="457200"/>
          </a:xfrm>
          <a:prstGeom prst="rect">
            <a:avLst/>
          </a:prstGeom>
          <a:noFill/>
        </p:spPr>
        <p:txBody>
          <a:bodyPr wrap="square" anchor="t" lIns="45720" rIns="45720">
            <a:spAutoFit/>
          </a:bodyPr>
          <a:lstStyle/>
          <a:p>
            <a:pPr algn="l"/>
            <a:r>
              <a:rPr sz="1400" b="1" i="0">
                <a:solidFill>
                  <a:srgbClr val="9FB8E8"/>
                </a:solidFill>
                <a:latin typeface="Calibri"/>
              </a:rPr>
              <a:t>ADVANCED TOPICS IN MACHINE LEARNING · PAPER REPLICATION</a:t>
            </a:r>
          </a:p>
        </p:txBody>
      </p:sp>
      <p:sp>
        <p:nvSpPr>
          <p:cNvPr id="3" name="TextBox 2"/>
          <p:cNvSpPr txBox="1"/>
          <p:nvPr/>
        </p:nvSpPr>
        <p:spPr>
          <a:xfrm>
            <a:off x="731520" y="1554480"/>
            <a:ext cx="10515600" cy="1280160"/>
          </a:xfrm>
          <a:prstGeom prst="rect">
            <a:avLst/>
          </a:prstGeom>
          <a:noFill/>
        </p:spPr>
        <p:txBody>
          <a:bodyPr wrap="square" anchor="t" lIns="45720" rIns="45720">
            <a:spAutoFit/>
          </a:bodyPr>
          <a:lstStyle/>
          <a:p>
            <a:pPr algn="l"/>
            <a:r>
              <a:rPr sz="5400" b="1" i="0">
                <a:solidFill>
                  <a:srgbClr val="FFFFFF"/>
                </a:solidFill>
                <a:latin typeface="Cambria"/>
              </a:rPr>
              <a:t>Replicating RikoNet</a:t>
            </a:r>
          </a:p>
        </p:txBody>
      </p:sp>
      <p:sp>
        <p:nvSpPr>
          <p:cNvPr id="4" name="TextBox 3"/>
          <p:cNvSpPr txBox="1"/>
          <p:nvPr/>
        </p:nvSpPr>
        <p:spPr>
          <a:xfrm>
            <a:off x="731520" y="2606040"/>
            <a:ext cx="10515600" cy="914400"/>
          </a:xfrm>
          <a:prstGeom prst="rect">
            <a:avLst/>
          </a:prstGeom>
          <a:noFill/>
        </p:spPr>
        <p:txBody>
          <a:bodyPr wrap="square" anchor="t" lIns="45720" rIns="45720">
            <a:spAutoFit/>
          </a:bodyPr>
          <a:lstStyle/>
          <a:p>
            <a:pPr algn="l"/>
            <a:r>
              <a:rPr sz="2400" b="0" i="0">
                <a:solidFill>
                  <a:srgbClr val="CADCFC"/>
                </a:solidFill>
                <a:latin typeface="Calibri"/>
              </a:rPr>
              <a:t>A deep-autoencoder + spectral-clustering hybrid recommender for anime</a:t>
            </a:r>
          </a:p>
        </p:txBody>
      </p:sp>
      <p:sp>
        <p:nvSpPr>
          <p:cNvPr id="5" name="TextBox 4"/>
          <p:cNvSpPr txBox="1"/>
          <p:nvPr/>
        </p:nvSpPr>
        <p:spPr>
          <a:xfrm>
            <a:off x="731520" y="4023360"/>
            <a:ext cx="10515600" cy="822960"/>
          </a:xfrm>
          <a:prstGeom prst="rect">
            <a:avLst/>
          </a:prstGeom>
          <a:noFill/>
        </p:spPr>
        <p:txBody>
          <a:bodyPr wrap="square" anchor="t" lIns="45720" rIns="45720">
            <a:spAutoFit/>
          </a:bodyPr>
          <a:lstStyle/>
          <a:p>
            <a:pPr algn="l"/>
            <a:r>
              <a:rPr sz="1400" b="0" i="0">
                <a:solidFill>
                  <a:srgbClr val="CADCFC"/>
                </a:solidFill>
                <a:latin typeface="Calibri"/>
              </a:rPr>
              <a:t>Soni, Thakuria, Nath, Das &amp; Boro · Multimedia Tools and Applications, vol. 82, pp. 32329-32348 (2023), Springer</a:t>
            </a:r>
          </a:p>
          <a:p>
            <a:pPr algn="l"/>
            <a:r>
              <a:rPr sz="1400" b="0" i="0">
                <a:solidFill>
                  <a:srgbClr val="CADCFC"/>
                </a:solidFill>
                <a:latin typeface="Calibri"/>
              </a:rPr>
              <a:t>DOI 10.1007/s11042-023-14710-9</a:t>
            </a:r>
          </a:p>
        </p:txBody>
      </p:sp>
      <p:sp>
        <p:nvSpPr>
          <p:cNvPr id="6" name="TextBox 5"/>
          <p:cNvSpPr txBox="1"/>
          <p:nvPr/>
        </p:nvSpPr>
        <p:spPr>
          <a:xfrm>
            <a:off x="731520" y="5394960"/>
            <a:ext cx="10515600" cy="457200"/>
          </a:xfrm>
          <a:prstGeom prst="rect">
            <a:avLst/>
          </a:prstGeom>
          <a:noFill/>
        </p:spPr>
        <p:txBody>
          <a:bodyPr wrap="square" anchor="t" lIns="45720" rIns="45720">
            <a:spAutoFit/>
          </a:bodyPr>
          <a:lstStyle/>
          <a:p>
            <a:pPr algn="l"/>
            <a:r>
              <a:rPr sz="1400" b="0" i="0">
                <a:solidFill>
                  <a:srgbClr val="FFFFFF"/>
                </a:solidFill>
                <a:latin typeface="Calibri"/>
              </a:rPr>
              <a:t>Presented by: ______________________     Supervisor: ______________________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2</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The answer up front</a:t>
            </a:r>
          </a:p>
        </p:txBody>
      </p:sp>
      <p:sp>
        <p:nvSpPr>
          <p:cNvPr id="5" name="TextBox 4"/>
          <p:cNvSpPr txBox="1"/>
          <p:nvPr/>
        </p:nvSpPr>
        <p:spPr>
          <a:xfrm>
            <a:off x="548640" y="1024128"/>
            <a:ext cx="11094415" cy="411480"/>
          </a:xfrm>
          <a:prstGeom prst="rect">
            <a:avLst/>
          </a:prstGeom>
          <a:noFill/>
        </p:spPr>
        <p:txBody>
          <a:bodyPr wrap="square" anchor="t" lIns="45720" rIns="45720">
            <a:spAutoFit/>
          </a:bodyPr>
          <a:lstStyle/>
          <a:p>
            <a:pPr algn="l"/>
            <a:r>
              <a:rPr sz="1500" b="0" i="1">
                <a:solidFill>
                  <a:srgbClr val="6B6880"/>
                </a:solidFill>
                <a:latin typeface="Calibri"/>
              </a:rPr>
              <a:t>What we rebuilt, and whether the paper's claim held up</a:t>
            </a:r>
          </a:p>
        </p:txBody>
      </p:sp>
      <p:sp>
        <p:nvSpPr>
          <p:cNvPr id="6" name="TextBox 5"/>
          <p:cNvSpPr txBox="1"/>
          <p:nvPr/>
        </p:nvSpPr>
        <p:spPr>
          <a:xfrm>
            <a:off x="640080" y="1737360"/>
            <a:ext cx="3291840" cy="868680"/>
          </a:xfrm>
          <a:prstGeom prst="rect">
            <a:avLst/>
          </a:prstGeom>
          <a:noFill/>
        </p:spPr>
        <p:txBody>
          <a:bodyPr wrap="square" anchor="t" lIns="45720" rIns="45720">
            <a:spAutoFit/>
          </a:bodyPr>
          <a:lstStyle/>
          <a:p>
            <a:pPr algn="l"/>
            <a:r>
              <a:rPr sz="4800" b="1" i="0">
                <a:solidFill>
                  <a:srgbClr val="EB6834"/>
                </a:solidFill>
                <a:latin typeface="Cambria"/>
              </a:rPr>
              <a:t>0.591</a:t>
            </a:r>
          </a:p>
        </p:txBody>
      </p:sp>
      <p:sp>
        <p:nvSpPr>
          <p:cNvPr id="7" name="TextBox 6"/>
          <p:cNvSpPr txBox="1"/>
          <p:nvPr/>
        </p:nvSpPr>
        <p:spPr>
          <a:xfrm>
            <a:off x="640080" y="2606039"/>
            <a:ext cx="3291840" cy="640080"/>
          </a:xfrm>
          <a:prstGeom prst="rect">
            <a:avLst/>
          </a:prstGeom>
          <a:noFill/>
        </p:spPr>
        <p:txBody>
          <a:bodyPr wrap="square" anchor="t" lIns="45720" rIns="45720">
            <a:spAutoFit/>
          </a:bodyPr>
          <a:lstStyle/>
          <a:p>
            <a:pPr algn="l"/>
            <a:r>
              <a:rPr sz="1300" b="0" i="0">
                <a:solidFill>
                  <a:srgbClr val="6B6880"/>
                </a:solidFill>
                <a:latin typeface="Calibri"/>
              </a:rPr>
              <a:t>RMSE on MovieLens-100K reported in the paper</a:t>
            </a:r>
          </a:p>
        </p:txBody>
      </p:sp>
      <p:sp>
        <p:nvSpPr>
          <p:cNvPr id="8" name="TextBox 7"/>
          <p:cNvSpPr txBox="1"/>
          <p:nvPr/>
        </p:nvSpPr>
        <p:spPr>
          <a:xfrm>
            <a:off x="4297680" y="1737360"/>
            <a:ext cx="3291840" cy="868680"/>
          </a:xfrm>
          <a:prstGeom prst="rect">
            <a:avLst/>
          </a:prstGeom>
          <a:noFill/>
        </p:spPr>
        <p:txBody>
          <a:bodyPr wrap="square" anchor="t" lIns="45720" rIns="45720">
            <a:spAutoFit/>
          </a:bodyPr>
          <a:lstStyle/>
          <a:p>
            <a:pPr algn="l"/>
            <a:r>
              <a:rPr sz="4800" b="1" i="0">
                <a:solidFill>
                  <a:srgbClr val="2A78D6"/>
                </a:solidFill>
                <a:latin typeface="Cambria"/>
              </a:rPr>
              <a:t>0.942</a:t>
            </a:r>
          </a:p>
        </p:txBody>
      </p:sp>
      <p:sp>
        <p:nvSpPr>
          <p:cNvPr id="9" name="TextBox 8"/>
          <p:cNvSpPr txBox="1"/>
          <p:nvPr/>
        </p:nvSpPr>
        <p:spPr>
          <a:xfrm>
            <a:off x="4297680" y="2606039"/>
            <a:ext cx="3291840" cy="640080"/>
          </a:xfrm>
          <a:prstGeom prst="rect">
            <a:avLst/>
          </a:prstGeom>
          <a:noFill/>
        </p:spPr>
        <p:txBody>
          <a:bodyPr wrap="square" anchor="t" lIns="45720" rIns="45720">
            <a:spAutoFit/>
          </a:bodyPr>
          <a:lstStyle/>
          <a:p>
            <a:pPr algn="l"/>
            <a:r>
              <a:rPr sz="1300" b="0" i="0">
                <a:solidFill>
                  <a:srgbClr val="6B6880"/>
                </a:solidFill>
                <a:latin typeface="Calibri"/>
              </a:rPr>
              <a:t>our RikoNet RMSE, same data and protocol (mean of 3 seeds)</a:t>
            </a:r>
          </a:p>
        </p:txBody>
      </p:sp>
      <p:sp>
        <p:nvSpPr>
          <p:cNvPr id="10" name="TextBox 9"/>
          <p:cNvSpPr txBox="1"/>
          <p:nvPr/>
        </p:nvSpPr>
        <p:spPr>
          <a:xfrm>
            <a:off x="7955279" y="1737360"/>
            <a:ext cx="3566160" cy="868680"/>
          </a:xfrm>
          <a:prstGeom prst="rect">
            <a:avLst/>
          </a:prstGeom>
          <a:noFill/>
        </p:spPr>
        <p:txBody>
          <a:bodyPr wrap="square" anchor="t" lIns="45720" rIns="45720">
            <a:spAutoFit/>
          </a:bodyPr>
          <a:lstStyle/>
          <a:p>
            <a:pPr algn="l"/>
            <a:r>
              <a:rPr sz="4800" b="1" i="0">
                <a:solidFill>
                  <a:srgbClr val="A9A8A2"/>
                </a:solidFill>
                <a:latin typeface="Cambria"/>
              </a:rPr>
              <a:t>0.942</a:t>
            </a:r>
          </a:p>
        </p:txBody>
      </p:sp>
      <p:sp>
        <p:nvSpPr>
          <p:cNvPr id="11" name="TextBox 10"/>
          <p:cNvSpPr txBox="1"/>
          <p:nvPr/>
        </p:nvSpPr>
        <p:spPr>
          <a:xfrm>
            <a:off x="7955279" y="2606039"/>
            <a:ext cx="3566160" cy="640080"/>
          </a:xfrm>
          <a:prstGeom prst="rect">
            <a:avLst/>
          </a:prstGeom>
          <a:noFill/>
        </p:spPr>
        <p:txBody>
          <a:bodyPr wrap="square" anchor="t" lIns="45720" rIns="45720">
            <a:spAutoFit/>
          </a:bodyPr>
          <a:lstStyle/>
          <a:p>
            <a:pPr algn="l"/>
            <a:r>
              <a:rPr sz="1300" b="0" i="0">
                <a:solidFill>
                  <a:srgbClr val="6B6880"/>
                </a:solidFill>
                <a:latin typeface="Calibri"/>
              </a:rPr>
              <a:t>best baseline we trained: Biased MF (ALS)</a:t>
            </a:r>
          </a:p>
        </p:txBody>
      </p:sp>
      <p:sp>
        <p:nvSpPr>
          <p:cNvPr id="12" name="TextBox 11"/>
          <p:cNvSpPr txBox="1"/>
          <p:nvPr/>
        </p:nvSpPr>
        <p:spPr>
          <a:xfrm>
            <a:off x="640080" y="3749039"/>
            <a:ext cx="10972800" cy="2377440"/>
          </a:xfrm>
          <a:prstGeom prst="rect">
            <a:avLst/>
          </a:prstGeom>
          <a:noFill/>
        </p:spPr>
        <p:txBody>
          <a:bodyPr wrap="square">
            <a:spAutoFit/>
          </a:bodyPr>
          <a:lstStyle/>
          <a:p>
            <a:pPr marL="256032" indent="-256032">
              <a:spcAft>
                <a:spcPts val="800"/>
              </a:spcAft>
              <a:buChar char="•"/>
            </a:pPr>
            <a:r>
              <a:rPr b="1" sz="1700">
                <a:solidFill>
                  <a:srgbClr val="1F1B3A"/>
                </a:solidFill>
                <a:latin typeface="Calibri"/>
              </a:rPr>
              <a:t>Rebuilt end to end: </a:t>
            </a:r>
            <a:r>
              <a:rPr sz="1700">
                <a:solidFill>
                  <a:srgbClr val="1F1B3A"/>
                </a:solidFill>
                <a:latin typeface="Calibri"/>
              </a:rPr>
              <a:t>masked deep autoencoder, 3-stage embeddings, spectral clustering, opposite clusters, hybrid filter.</a:t>
            </a:r>
          </a:p>
          <a:p>
            <a:pPr marL="256032" indent="-256032">
              <a:spcAft>
                <a:spcPts val="800"/>
              </a:spcAft>
              <a:buChar char="•"/>
            </a:pPr>
            <a:r>
              <a:rPr b="1" sz="1700">
                <a:solidFill>
                  <a:srgbClr val="1F1B3A"/>
                </a:solidFill>
                <a:latin typeface="Calibri"/>
              </a:rPr>
              <a:t>Not reproduced: </a:t>
            </a:r>
            <a:r>
              <a:rPr sz="1700">
                <a:solidFill>
                  <a:srgbClr val="1F1B3A"/>
                </a:solidFill>
                <a:latin typeface="Calibri"/>
              </a:rPr>
              <a:t>the headline RMSE. Ours is 0.351 higher, and about equal to a tuned classical baseline.</a:t>
            </a:r>
          </a:p>
          <a:p>
            <a:pPr marL="256032" indent="-256032">
              <a:spcAft>
                <a:spcPts val="800"/>
              </a:spcAft>
              <a:buChar char="•"/>
            </a:pPr>
            <a:r>
              <a:rPr b="1" sz="1700">
                <a:solidFill>
                  <a:srgbClr val="1F1B3A"/>
                </a:solidFill>
                <a:latin typeface="Calibri"/>
              </a:rPr>
              <a:t>Type: </a:t>
            </a:r>
            <a:r>
              <a:rPr sz="1700">
                <a:solidFill>
                  <a:srgbClr val="1F1B3A"/>
                </a:solidFill>
                <a:latin typeface="Calibri"/>
              </a:rPr>
              <a:t>simplified replication. The authors' anime data and code are not public, so we used the paper's public benchmark plus an alternative public anime 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3</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Paper selection was verified before starting</a:t>
            </a:r>
          </a:p>
        </p:txBody>
      </p:sp>
      <p:sp>
        <p:nvSpPr>
          <p:cNvPr id="5" name="Rounded Rectangle 4"/>
          <p:cNvSpPr/>
          <p:nvPr/>
        </p:nvSpPr>
        <p:spPr>
          <a:xfrm>
            <a:off x="548640" y="1508760"/>
            <a:ext cx="5440680" cy="2103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78308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7" name="TextBox 6"/>
          <p:cNvSpPr txBox="1"/>
          <p:nvPr/>
        </p:nvSpPr>
        <p:spPr>
          <a:xfrm>
            <a:off x="1463040" y="1764792"/>
            <a:ext cx="4297680" cy="457200"/>
          </a:xfrm>
          <a:prstGeom prst="rect">
            <a:avLst/>
          </a:prstGeom>
          <a:noFill/>
        </p:spPr>
        <p:txBody>
          <a:bodyPr wrap="square" anchor="t" lIns="45720" rIns="45720">
            <a:spAutoFit/>
          </a:bodyPr>
          <a:lstStyle/>
          <a:p>
            <a:pPr algn="l"/>
            <a:r>
              <a:rPr sz="2000" b="1" i="0">
                <a:solidFill>
                  <a:srgbClr val="1F1B3A"/>
                </a:solidFill>
                <a:latin typeface="Calibri"/>
              </a:rPr>
              <a:t>Subscription only</a:t>
            </a:r>
          </a:p>
        </p:txBody>
      </p:sp>
      <p:sp>
        <p:nvSpPr>
          <p:cNvPr id="8" name="TextBox 7"/>
          <p:cNvSpPr txBox="1"/>
          <p:nvPr/>
        </p:nvSpPr>
        <p:spPr>
          <a:xfrm>
            <a:off x="1463040" y="2286000"/>
            <a:ext cx="4297680" cy="1280160"/>
          </a:xfrm>
          <a:prstGeom prst="rect">
            <a:avLst/>
          </a:prstGeom>
          <a:noFill/>
        </p:spPr>
        <p:txBody>
          <a:bodyPr wrap="square" anchor="t" lIns="45720" rIns="45720">
            <a:spAutoFit/>
          </a:bodyPr>
          <a:lstStyle/>
          <a:p>
            <a:pPr algn="l"/>
            <a:r>
              <a:rPr sz="1500" b="0" i="0">
                <a:solidFill>
                  <a:srgbClr val="3D3A55"/>
                </a:solidFill>
                <a:latin typeface="Calibri"/>
              </a:rPr>
              <a:t>Springer page metadata: Open Access = N, isAccessibleForFree = false. (A preprint exists on arXiv 2106.12970.)</a:t>
            </a:r>
          </a:p>
        </p:txBody>
      </p:sp>
      <p:sp>
        <p:nvSpPr>
          <p:cNvPr id="9" name="Rounded Rectangle 8"/>
          <p:cNvSpPr/>
          <p:nvPr/>
        </p:nvSpPr>
        <p:spPr>
          <a:xfrm>
            <a:off x="6172200" y="1508760"/>
            <a:ext cx="5440680" cy="2103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178308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1" name="TextBox 10"/>
          <p:cNvSpPr txBox="1"/>
          <p:nvPr/>
        </p:nvSpPr>
        <p:spPr>
          <a:xfrm>
            <a:off x="7086600" y="1764792"/>
            <a:ext cx="4297680" cy="457200"/>
          </a:xfrm>
          <a:prstGeom prst="rect">
            <a:avLst/>
          </a:prstGeom>
          <a:noFill/>
        </p:spPr>
        <p:txBody>
          <a:bodyPr wrap="square" anchor="t" lIns="45720" rIns="45720">
            <a:spAutoFit/>
          </a:bodyPr>
          <a:lstStyle/>
          <a:p>
            <a:pPr algn="l"/>
            <a:r>
              <a:rPr sz="2000" b="1" i="0">
                <a:solidFill>
                  <a:srgbClr val="1F1B3A"/>
                </a:solidFill>
                <a:latin typeface="Calibri"/>
              </a:rPr>
              <a:t>Authors' code: gone</a:t>
            </a:r>
          </a:p>
        </p:txBody>
      </p:sp>
      <p:sp>
        <p:nvSpPr>
          <p:cNvPr id="12" name="TextBox 11"/>
          <p:cNvSpPr txBox="1"/>
          <p:nvPr/>
        </p:nvSpPr>
        <p:spPr>
          <a:xfrm>
            <a:off x="7086600" y="2286000"/>
            <a:ext cx="4297680" cy="1280160"/>
          </a:xfrm>
          <a:prstGeom prst="rect">
            <a:avLst/>
          </a:prstGeom>
          <a:noFill/>
        </p:spPr>
        <p:txBody>
          <a:bodyPr wrap="square" anchor="t" lIns="45720" rIns="45720">
            <a:spAutoFit/>
          </a:bodyPr>
          <a:lstStyle/>
          <a:p>
            <a:pPr algn="l"/>
            <a:r>
              <a:rPr sz="1500" b="0" i="0">
                <a:solidFill>
                  <a:srgbClr val="3D3A55"/>
                </a:solidFill>
                <a:latin typeface="Calibri"/>
              </a:rPr>
              <a:t>github.com/NilutpalNath/RikoNet returns 404 and is not in the author's public repository list.</a:t>
            </a:r>
          </a:p>
        </p:txBody>
      </p:sp>
      <p:sp>
        <p:nvSpPr>
          <p:cNvPr id="13" name="Rounded Rectangle 12"/>
          <p:cNvSpPr/>
          <p:nvPr/>
        </p:nvSpPr>
        <p:spPr>
          <a:xfrm>
            <a:off x="548640" y="3840479"/>
            <a:ext cx="5440680" cy="2103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4114799"/>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15" name="TextBox 14"/>
          <p:cNvSpPr txBox="1"/>
          <p:nvPr/>
        </p:nvSpPr>
        <p:spPr>
          <a:xfrm>
            <a:off x="1463040" y="4096511"/>
            <a:ext cx="4297680" cy="457200"/>
          </a:xfrm>
          <a:prstGeom prst="rect">
            <a:avLst/>
          </a:prstGeom>
          <a:noFill/>
        </p:spPr>
        <p:txBody>
          <a:bodyPr wrap="square" anchor="t" lIns="45720" rIns="45720">
            <a:spAutoFit/>
          </a:bodyPr>
          <a:lstStyle/>
          <a:p>
            <a:pPr algn="l"/>
            <a:r>
              <a:rPr sz="2000" b="1" i="0">
                <a:solidFill>
                  <a:srgbClr val="1F1B3A"/>
                </a:solidFill>
                <a:latin typeface="Calibri"/>
              </a:rPr>
              <a:t>Anime data: private</a:t>
            </a:r>
          </a:p>
        </p:txBody>
      </p:sp>
      <p:sp>
        <p:nvSpPr>
          <p:cNvPr id="16" name="TextBox 15"/>
          <p:cNvSpPr txBox="1"/>
          <p:nvPr/>
        </p:nvSpPr>
        <p:spPr>
          <a:xfrm>
            <a:off x="1463040" y="4617719"/>
            <a:ext cx="4297680" cy="1280160"/>
          </a:xfrm>
          <a:prstGeom prst="rect">
            <a:avLst/>
          </a:prstGeom>
          <a:noFill/>
        </p:spPr>
        <p:txBody>
          <a:bodyPr wrap="square" anchor="t" lIns="45720" rIns="45720">
            <a:spAutoFit/>
          </a:bodyPr>
          <a:lstStyle/>
          <a:p>
            <a:pPr algn="l"/>
            <a:r>
              <a:rPr sz="1500" b="0" i="0">
                <a:solidFill>
                  <a:srgbClr val="3D3A55"/>
                </a:solidFill>
                <a:latin typeface="Calibri"/>
              </a:rPr>
              <a:t>Crawled from MyAnimeList via the Jikan API, never released, no reconstruction instructions.</a:t>
            </a:r>
          </a:p>
        </p:txBody>
      </p:sp>
      <p:sp>
        <p:nvSpPr>
          <p:cNvPr id="17" name="Rounded Rectangle 16"/>
          <p:cNvSpPr/>
          <p:nvPr/>
        </p:nvSpPr>
        <p:spPr>
          <a:xfrm>
            <a:off x="6172200" y="3840479"/>
            <a:ext cx="5440680" cy="2103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4114799"/>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19" name="TextBox 18"/>
          <p:cNvSpPr txBox="1"/>
          <p:nvPr/>
        </p:nvSpPr>
        <p:spPr>
          <a:xfrm>
            <a:off x="7086600" y="4096511"/>
            <a:ext cx="4297680" cy="457200"/>
          </a:xfrm>
          <a:prstGeom prst="rect">
            <a:avLst/>
          </a:prstGeom>
          <a:noFill/>
        </p:spPr>
        <p:txBody>
          <a:bodyPr wrap="square" anchor="t" lIns="45720" rIns="45720">
            <a:spAutoFit/>
          </a:bodyPr>
          <a:lstStyle/>
          <a:p>
            <a:pPr algn="l"/>
            <a:r>
              <a:rPr sz="2000" b="1" i="0">
                <a:solidFill>
                  <a:srgbClr val="1F1B3A"/>
                </a:solidFill>
                <a:latin typeface="Calibri"/>
              </a:rPr>
              <a:t>Benchmark data: public</a:t>
            </a:r>
          </a:p>
        </p:txBody>
      </p:sp>
      <p:sp>
        <p:nvSpPr>
          <p:cNvPr id="20" name="TextBox 19"/>
          <p:cNvSpPr txBox="1"/>
          <p:nvPr/>
        </p:nvSpPr>
        <p:spPr>
          <a:xfrm>
            <a:off x="7086600" y="4617719"/>
            <a:ext cx="4297680" cy="1280160"/>
          </a:xfrm>
          <a:prstGeom prst="rect">
            <a:avLst/>
          </a:prstGeom>
          <a:noFill/>
        </p:spPr>
        <p:txBody>
          <a:bodyPr wrap="square" anchor="t" lIns="45720" rIns="45720">
            <a:spAutoFit/>
          </a:bodyPr>
          <a:lstStyle/>
          <a:p>
            <a:pPr algn="l"/>
            <a:r>
              <a:rPr sz="1500" b="0" i="0">
                <a:solidFill>
                  <a:srgbClr val="3D3A55"/>
                </a:solidFill>
                <a:latin typeface="Calibri"/>
              </a:rPr>
              <a:t>Table 4 uses MovieLens-100K, which we downloaded from GroupLens, so that experiment can be reproduced exactly.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4</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How RikoNet works</a:t>
            </a:r>
          </a:p>
        </p:txBody>
      </p:sp>
      <p:sp>
        <p:nvSpPr>
          <p:cNvPr id="5" name="TextBox 4"/>
          <p:cNvSpPr txBox="1"/>
          <p:nvPr/>
        </p:nvSpPr>
        <p:spPr>
          <a:xfrm>
            <a:off x="548640" y="1024128"/>
            <a:ext cx="11094415" cy="411480"/>
          </a:xfrm>
          <a:prstGeom prst="rect">
            <a:avLst/>
          </a:prstGeom>
          <a:noFill/>
        </p:spPr>
        <p:txBody>
          <a:bodyPr wrap="square" anchor="t" lIns="45720" rIns="45720">
            <a:spAutoFit/>
          </a:bodyPr>
          <a:lstStyle/>
          <a:p>
            <a:pPr algn="l"/>
            <a:r>
              <a:rPr sz="1500" b="0" i="1">
                <a:solidFill>
                  <a:srgbClr val="6B6880"/>
                </a:solidFill>
                <a:latin typeface="Calibri"/>
              </a:rPr>
              <a:t>Collaborative signal (top) + content signal (bottom) meet in the hybrid filter</a:t>
            </a:r>
          </a:p>
        </p:txBody>
      </p:sp>
      <p:sp>
        <p:nvSpPr>
          <p:cNvPr id="6" name="Rounded Rectangle 5"/>
          <p:cNvSpPr/>
          <p:nvPr/>
        </p:nvSpPr>
        <p:spPr>
          <a:xfrm>
            <a:off x="548640" y="1783080"/>
            <a:ext cx="1874519" cy="960120"/>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User ratings</a:t>
            </a:r>
          </a:p>
          <a:p>
            <a:pPr algn="ctr"/>
            <a:r>
              <a:rPr sz="1200" b="0">
                <a:solidFill>
                  <a:srgbClr val="1F1B3A"/>
                </a:solidFill>
                <a:latin typeface="Calibri"/>
              </a:rPr>
              <a:t>+ age, gender</a:t>
            </a:r>
          </a:p>
        </p:txBody>
      </p:sp>
      <p:sp>
        <p:nvSpPr>
          <p:cNvPr id="7" name="Rounded Rectangle 6"/>
          <p:cNvSpPr/>
          <p:nvPr/>
        </p:nvSpPr>
        <p:spPr>
          <a:xfrm>
            <a:off x="2880360" y="1783080"/>
            <a:ext cx="1874519" cy="960120"/>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Primary</a:t>
            </a:r>
          </a:p>
          <a:p>
            <a:pPr algn="ctr"/>
            <a:r>
              <a:rPr sz="1200" b="0">
                <a:solidFill>
                  <a:srgbClr val="1F1B3A"/>
                </a:solidFill>
                <a:latin typeface="Calibri"/>
              </a:rPr>
              <a:t>autoencoder</a:t>
            </a:r>
          </a:p>
        </p:txBody>
      </p:sp>
      <p:sp>
        <p:nvSpPr>
          <p:cNvPr id="8" name="Rounded Rectangle 7"/>
          <p:cNvSpPr/>
          <p:nvPr/>
        </p:nvSpPr>
        <p:spPr>
          <a:xfrm>
            <a:off x="5212080" y="1783080"/>
            <a:ext cx="1874519" cy="960120"/>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Predicted ratings</a:t>
            </a:r>
          </a:p>
          <a:p>
            <a:pPr algn="ctr"/>
            <a:r>
              <a:rPr sz="1200" b="0">
                <a:solidFill>
                  <a:srgbClr val="1F1B3A"/>
                </a:solidFill>
                <a:latin typeface="Calibri"/>
              </a:rPr>
              <a:t>for unrated titles (S)</a:t>
            </a:r>
          </a:p>
        </p:txBody>
      </p:sp>
      <p:sp>
        <p:nvSpPr>
          <p:cNvPr id="9" name="Rounded Rectangle 8"/>
          <p:cNvSpPr/>
          <p:nvPr/>
        </p:nvSpPr>
        <p:spPr>
          <a:xfrm>
            <a:off x="548640" y="3977639"/>
            <a:ext cx="1874519" cy="960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Top raters'</a:t>
            </a:r>
          </a:p>
          <a:p>
            <a:pPr algn="ctr"/>
            <a:r>
              <a:rPr sz="1200" b="0">
                <a:solidFill>
                  <a:srgbClr val="1F1B3A"/>
                </a:solidFill>
                <a:latin typeface="Calibri"/>
              </a:rPr>
              <a:t>ratings per anime</a:t>
            </a:r>
          </a:p>
        </p:txBody>
      </p:sp>
      <p:sp>
        <p:nvSpPr>
          <p:cNvPr id="10" name="Rounded Rectangle 9"/>
          <p:cNvSpPr/>
          <p:nvPr/>
        </p:nvSpPr>
        <p:spPr>
          <a:xfrm>
            <a:off x="2880360" y="3977639"/>
            <a:ext cx="1874519" cy="960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AE-1  Rᵐ→Rᵈ</a:t>
            </a:r>
          </a:p>
          <a:p>
            <a:pPr algn="ctr"/>
            <a:r>
              <a:rPr sz="1200" b="0">
                <a:solidFill>
                  <a:srgbClr val="1F1B3A"/>
                </a:solidFill>
                <a:latin typeface="Calibri"/>
              </a:rPr>
              <a:t>+ 43 genres</a:t>
            </a:r>
          </a:p>
        </p:txBody>
      </p:sp>
      <p:sp>
        <p:nvSpPr>
          <p:cNvPr id="11" name="Rounded Rectangle 10"/>
          <p:cNvSpPr/>
          <p:nvPr/>
        </p:nvSpPr>
        <p:spPr>
          <a:xfrm>
            <a:off x="5212080" y="3977639"/>
            <a:ext cx="1874519" cy="960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AE-3  → hybrid</a:t>
            </a:r>
          </a:p>
          <a:p>
            <a:pPr algn="ctr"/>
            <a:r>
              <a:rPr sz="1200" b="0">
                <a:solidFill>
                  <a:srgbClr val="1F1B3A"/>
                </a:solidFill>
                <a:latin typeface="Calibri"/>
              </a:rPr>
              <a:t>embedding (d)</a:t>
            </a:r>
          </a:p>
        </p:txBody>
      </p:sp>
      <p:sp>
        <p:nvSpPr>
          <p:cNvPr id="12" name="Rounded Rectangle 11"/>
          <p:cNvSpPr/>
          <p:nvPr/>
        </p:nvSpPr>
        <p:spPr>
          <a:xfrm>
            <a:off x="7543800" y="3977639"/>
            <a:ext cx="1874519" cy="960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Spectral</a:t>
            </a:r>
          </a:p>
          <a:p>
            <a:pPr algn="ctr"/>
            <a:r>
              <a:rPr sz="1200" b="0">
                <a:solidFill>
                  <a:srgbClr val="1F1B3A"/>
                </a:solidFill>
                <a:latin typeface="Calibri"/>
              </a:rPr>
              <a:t>clustering (222)</a:t>
            </a:r>
          </a:p>
        </p:txBody>
      </p:sp>
      <p:sp>
        <p:nvSpPr>
          <p:cNvPr id="13" name="Rounded Rectangle 12"/>
          <p:cNvSpPr/>
          <p:nvPr/>
        </p:nvSpPr>
        <p:spPr>
          <a:xfrm>
            <a:off x="9875520" y="3977639"/>
            <a:ext cx="1874519" cy="9601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1B3A"/>
                </a:solidFill>
                <a:latin typeface="Calibri"/>
              </a:rPr>
              <a:t>Opposite</a:t>
            </a:r>
          </a:p>
          <a:p>
            <a:pPr algn="ctr"/>
            <a:r>
              <a:rPr sz="1200" b="0">
                <a:solidFill>
                  <a:srgbClr val="1F1B3A"/>
                </a:solidFill>
                <a:latin typeface="Calibri"/>
              </a:rPr>
              <a:t>clusters (Alg. 1)</a:t>
            </a:r>
          </a:p>
        </p:txBody>
      </p:sp>
      <p:sp>
        <p:nvSpPr>
          <p:cNvPr id="14" name="Rounded Rectangle 13"/>
          <p:cNvSpPr/>
          <p:nvPr/>
        </p:nvSpPr>
        <p:spPr>
          <a:xfrm>
            <a:off x="7543800" y="1783080"/>
            <a:ext cx="1874519" cy="9601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Hybrid filter</a:t>
            </a:r>
          </a:p>
          <a:p>
            <a:pPr algn="ctr"/>
            <a:r>
              <a:rPr sz="1200" b="0">
                <a:solidFill>
                  <a:srgbClr val="FFFFFF"/>
                </a:solidFill>
                <a:latin typeface="Calibri"/>
              </a:rPr>
              <a:t>S ∩ C  /  S − C</a:t>
            </a:r>
          </a:p>
        </p:txBody>
      </p:sp>
      <p:sp>
        <p:nvSpPr>
          <p:cNvPr id="15" name="Rounded Rectangle 14"/>
          <p:cNvSpPr/>
          <p:nvPr/>
        </p:nvSpPr>
        <p:spPr>
          <a:xfrm>
            <a:off x="9875520" y="1463040"/>
            <a:ext cx="1874519" cy="731520"/>
          </a:xfrm>
          <a:prstGeom prst="roundRect">
            <a:avLst>
              <a:gd name="adj" fmla="val 8000"/>
            </a:avLst>
          </a:prstGeom>
          <a:solidFill>
            <a:srgbClr val="1F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Similar Anime</a:t>
            </a:r>
          </a:p>
          <a:p>
            <a:pPr algn="ctr"/>
            <a:r>
              <a:rPr sz="1100" b="0">
                <a:solidFill>
                  <a:srgbClr val="FFFFFF"/>
                </a:solidFill>
                <a:latin typeface="Calibri"/>
              </a:rPr>
              <a:t>top 10</a:t>
            </a:r>
          </a:p>
        </p:txBody>
      </p:sp>
      <p:sp>
        <p:nvSpPr>
          <p:cNvPr id="16" name="Rounded Rectangle 15"/>
          <p:cNvSpPr/>
          <p:nvPr/>
        </p:nvSpPr>
        <p:spPr>
          <a:xfrm>
            <a:off x="9875520" y="2331720"/>
            <a:ext cx="1874519" cy="731520"/>
          </a:xfrm>
          <a:prstGeom prst="roundRect">
            <a:avLst>
              <a:gd name="adj" fmla="val 8000"/>
            </a:avLst>
          </a:prstGeom>
          <a:solidFill>
            <a:srgbClr val="1F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You May Like</a:t>
            </a:r>
          </a:p>
          <a:p>
            <a:pPr algn="ctr"/>
            <a:r>
              <a:rPr sz="1100" b="0">
                <a:solidFill>
                  <a:srgbClr val="FFFFFF"/>
                </a:solidFill>
                <a:latin typeface="Calibri"/>
              </a:rPr>
              <a:t>top 10</a:t>
            </a:r>
          </a:p>
        </p:txBody>
      </p:sp>
      <p:cxnSp>
        <p:nvCxnSpPr>
          <p:cNvPr id="17" name="Connector 16"/>
          <p:cNvCxnSpPr/>
          <p:nvPr/>
        </p:nvCxnSpPr>
        <p:spPr>
          <a:xfrm>
            <a:off x="2423160" y="2263140"/>
            <a:ext cx="457200"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754879" y="2263140"/>
            <a:ext cx="457201"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086600" y="2263140"/>
            <a:ext cx="457200"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23160" y="4457700"/>
            <a:ext cx="457200"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754879" y="4457700"/>
            <a:ext cx="457201"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86600" y="4457700"/>
            <a:ext cx="457200"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18320" y="4457700"/>
            <a:ext cx="457200" cy="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476488" y="2743200"/>
            <a:ext cx="0" cy="1234439"/>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418320" y="1828800"/>
            <a:ext cx="457200" cy="22860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418320" y="2468880"/>
            <a:ext cx="457200" cy="228600"/>
          </a:xfrm>
          <a:prstGeom prst="line">
            <a:avLst/>
          </a:prstGeom>
          <a:ln w="22225">
            <a:solidFill>
              <a:srgbClr val="6B688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5349240"/>
            <a:ext cx="10972800" cy="822960"/>
          </a:xfrm>
          <a:prstGeom prst="rect">
            <a:avLst/>
          </a:prstGeom>
          <a:noFill/>
        </p:spPr>
        <p:txBody>
          <a:bodyPr wrap="square" anchor="t" lIns="45720" rIns="45720">
            <a:spAutoFit/>
          </a:bodyPr>
          <a:lstStyle/>
          <a:p>
            <a:pPr algn="l"/>
            <a:r>
              <a:rPr sz="1500" b="0" i="0">
                <a:solidFill>
                  <a:srgbClr val="3D3A55"/>
                </a:solidFill>
                <a:latin typeface="Calibri"/>
              </a:rPr>
              <a:t>C = union of the clusters of the user's last 3 rated titles: own cluster if liked, logically opposite cluster if disliked.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5</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The primary autoencoder</a:t>
            </a:r>
          </a:p>
        </p:txBody>
      </p:sp>
      <p:sp>
        <p:nvSpPr>
          <p:cNvPr id="5" name="TextBox 4"/>
          <p:cNvSpPr txBox="1"/>
          <p:nvPr/>
        </p:nvSpPr>
        <p:spPr>
          <a:xfrm>
            <a:off x="548640" y="1024128"/>
            <a:ext cx="11094415" cy="411480"/>
          </a:xfrm>
          <a:prstGeom prst="rect">
            <a:avLst/>
          </a:prstGeom>
          <a:noFill/>
        </p:spPr>
        <p:txBody>
          <a:bodyPr wrap="square" anchor="t" lIns="45720" rIns="45720">
            <a:spAutoFit/>
          </a:bodyPr>
          <a:lstStyle/>
          <a:p>
            <a:pPr algn="l"/>
            <a:r>
              <a:rPr sz="1500" b="0" i="1">
                <a:solidFill>
                  <a:srgbClr val="6B6880"/>
                </a:solidFill>
                <a:latin typeface="Calibri"/>
              </a:rPr>
              <a:t>Kuchaiev &amp; Ginsburg (2017) architecture, as RikoNet specifies</a:t>
            </a:r>
          </a:p>
        </p:txBody>
      </p:sp>
      <p:sp>
        <p:nvSpPr>
          <p:cNvPr id="6" name="Rounded Rectangle 5"/>
          <p:cNvSpPr/>
          <p:nvPr/>
        </p:nvSpPr>
        <p:spPr>
          <a:xfrm>
            <a:off x="731520" y="2560320"/>
            <a:ext cx="502920" cy="2377440"/>
          </a:xfrm>
          <a:prstGeom prst="roundRect">
            <a:avLst>
              <a:gd name="adj" fmla="val 20000"/>
            </a:avLst>
          </a:prstGeom>
          <a:solidFill>
            <a:srgbClr val="1F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010912"/>
            <a:ext cx="868680" cy="320040"/>
          </a:xfrm>
          <a:prstGeom prst="rect">
            <a:avLst/>
          </a:prstGeom>
          <a:noFill/>
        </p:spPr>
        <p:txBody>
          <a:bodyPr wrap="square" anchor="t" lIns="45720" rIns="45720">
            <a:spAutoFit/>
          </a:bodyPr>
          <a:lstStyle/>
          <a:p>
            <a:pPr algn="ctr"/>
            <a:r>
              <a:rPr sz="1200" b="0" i="0">
                <a:solidFill>
                  <a:srgbClr val="3D3A55"/>
                </a:solidFill>
                <a:latin typeface="Calibri"/>
              </a:rPr>
              <a:t>n</a:t>
            </a:r>
          </a:p>
        </p:txBody>
      </p:sp>
      <p:sp>
        <p:nvSpPr>
          <p:cNvPr id="8" name="Rounded Rectangle 7"/>
          <p:cNvSpPr/>
          <p:nvPr/>
        </p:nvSpPr>
        <p:spPr>
          <a:xfrm>
            <a:off x="1508760" y="2834639"/>
            <a:ext cx="502920" cy="1828800"/>
          </a:xfrm>
          <a:prstGeom prst="roundRect">
            <a:avLst>
              <a:gd name="adj" fmla="val 20000"/>
            </a:avLst>
          </a:prstGeom>
          <a:solidFill>
            <a:srgbClr val="9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4736592"/>
            <a:ext cx="868680" cy="320040"/>
          </a:xfrm>
          <a:prstGeom prst="rect">
            <a:avLst/>
          </a:prstGeom>
          <a:noFill/>
        </p:spPr>
        <p:txBody>
          <a:bodyPr wrap="square" anchor="t" lIns="45720" rIns="45720">
            <a:spAutoFit/>
          </a:bodyPr>
          <a:lstStyle/>
          <a:p>
            <a:pPr algn="ctr"/>
            <a:r>
              <a:rPr sz="1200" b="0" i="0">
                <a:solidFill>
                  <a:srgbClr val="3D3A55"/>
                </a:solidFill>
                <a:latin typeface="Calibri"/>
              </a:rPr>
              <a:t>512</a:t>
            </a:r>
          </a:p>
        </p:txBody>
      </p:sp>
      <p:sp>
        <p:nvSpPr>
          <p:cNvPr id="10" name="Rounded Rectangle 9"/>
          <p:cNvSpPr/>
          <p:nvPr/>
        </p:nvSpPr>
        <p:spPr>
          <a:xfrm>
            <a:off x="2286000" y="3017520"/>
            <a:ext cx="502920" cy="1463040"/>
          </a:xfrm>
          <a:prstGeom prst="roundRect">
            <a:avLst>
              <a:gd name="adj" fmla="val 20000"/>
            </a:avLst>
          </a:prstGeom>
          <a:solidFill>
            <a:srgbClr val="9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4553712"/>
            <a:ext cx="868680" cy="320040"/>
          </a:xfrm>
          <a:prstGeom prst="rect">
            <a:avLst/>
          </a:prstGeom>
          <a:noFill/>
        </p:spPr>
        <p:txBody>
          <a:bodyPr wrap="square" anchor="t" lIns="45720" rIns="45720">
            <a:spAutoFit/>
          </a:bodyPr>
          <a:lstStyle/>
          <a:p>
            <a:pPr algn="ctr"/>
            <a:r>
              <a:rPr sz="1200" b="0" i="0">
                <a:solidFill>
                  <a:srgbClr val="3D3A55"/>
                </a:solidFill>
                <a:latin typeface="Calibri"/>
              </a:rPr>
              <a:t>512</a:t>
            </a:r>
          </a:p>
        </p:txBody>
      </p:sp>
      <p:sp>
        <p:nvSpPr>
          <p:cNvPr id="12" name="Rounded Rectangle 11"/>
          <p:cNvSpPr/>
          <p:nvPr/>
        </p:nvSpPr>
        <p:spPr>
          <a:xfrm>
            <a:off x="3063239" y="3200399"/>
            <a:ext cx="502920" cy="1097280"/>
          </a:xfrm>
          <a:prstGeom prst="roundRect">
            <a:avLst>
              <a:gd name="adj" fmla="val 2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59" y="4370831"/>
            <a:ext cx="868680" cy="320040"/>
          </a:xfrm>
          <a:prstGeom prst="rect">
            <a:avLst/>
          </a:prstGeom>
          <a:noFill/>
        </p:spPr>
        <p:txBody>
          <a:bodyPr wrap="square" anchor="t" lIns="45720" rIns="45720">
            <a:spAutoFit/>
          </a:bodyPr>
          <a:lstStyle/>
          <a:p>
            <a:pPr algn="ctr"/>
            <a:r>
              <a:rPr sz="1200" b="0" i="0">
                <a:solidFill>
                  <a:srgbClr val="3D3A55"/>
                </a:solidFill>
                <a:latin typeface="Calibri"/>
              </a:rPr>
              <a:t>1024</a:t>
            </a:r>
          </a:p>
        </p:txBody>
      </p:sp>
      <p:sp>
        <p:nvSpPr>
          <p:cNvPr id="14" name="Rounded Rectangle 13"/>
          <p:cNvSpPr/>
          <p:nvPr/>
        </p:nvSpPr>
        <p:spPr>
          <a:xfrm>
            <a:off x="3840480" y="3017520"/>
            <a:ext cx="502920" cy="1463040"/>
          </a:xfrm>
          <a:prstGeom prst="roundRect">
            <a:avLst>
              <a:gd name="adj" fmla="val 20000"/>
            </a:avLst>
          </a:prstGeom>
          <a:solidFill>
            <a:srgbClr val="9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4553712"/>
            <a:ext cx="868680" cy="320040"/>
          </a:xfrm>
          <a:prstGeom prst="rect">
            <a:avLst/>
          </a:prstGeom>
          <a:noFill/>
        </p:spPr>
        <p:txBody>
          <a:bodyPr wrap="square" anchor="t" lIns="45720" rIns="45720">
            <a:spAutoFit/>
          </a:bodyPr>
          <a:lstStyle/>
          <a:p>
            <a:pPr algn="ctr"/>
            <a:r>
              <a:rPr sz="1200" b="0" i="0">
                <a:solidFill>
                  <a:srgbClr val="3D3A55"/>
                </a:solidFill>
                <a:latin typeface="Calibri"/>
              </a:rPr>
              <a:t>512</a:t>
            </a:r>
          </a:p>
        </p:txBody>
      </p:sp>
      <p:sp>
        <p:nvSpPr>
          <p:cNvPr id="16" name="Rounded Rectangle 15"/>
          <p:cNvSpPr/>
          <p:nvPr/>
        </p:nvSpPr>
        <p:spPr>
          <a:xfrm>
            <a:off x="4617720" y="2834639"/>
            <a:ext cx="502920" cy="1828800"/>
          </a:xfrm>
          <a:prstGeom prst="roundRect">
            <a:avLst>
              <a:gd name="adj" fmla="val 20000"/>
            </a:avLst>
          </a:prstGeom>
          <a:solidFill>
            <a:srgbClr val="9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4736592"/>
            <a:ext cx="868680" cy="320040"/>
          </a:xfrm>
          <a:prstGeom prst="rect">
            <a:avLst/>
          </a:prstGeom>
          <a:noFill/>
        </p:spPr>
        <p:txBody>
          <a:bodyPr wrap="square" anchor="t" lIns="45720" rIns="45720">
            <a:spAutoFit/>
          </a:bodyPr>
          <a:lstStyle/>
          <a:p>
            <a:pPr algn="ctr"/>
            <a:r>
              <a:rPr sz="1200" b="0" i="0">
                <a:solidFill>
                  <a:srgbClr val="3D3A55"/>
                </a:solidFill>
                <a:latin typeface="Calibri"/>
              </a:rPr>
              <a:t>512</a:t>
            </a:r>
          </a:p>
        </p:txBody>
      </p:sp>
      <p:sp>
        <p:nvSpPr>
          <p:cNvPr id="18" name="Rounded Rectangle 17"/>
          <p:cNvSpPr/>
          <p:nvPr/>
        </p:nvSpPr>
        <p:spPr>
          <a:xfrm>
            <a:off x="5394959" y="2560320"/>
            <a:ext cx="502920" cy="2377440"/>
          </a:xfrm>
          <a:prstGeom prst="roundRect">
            <a:avLst>
              <a:gd name="adj" fmla="val 20000"/>
            </a:avLst>
          </a:prstGeom>
          <a:solidFill>
            <a:srgbClr val="1F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9" y="5010912"/>
            <a:ext cx="868680" cy="320040"/>
          </a:xfrm>
          <a:prstGeom prst="rect">
            <a:avLst/>
          </a:prstGeom>
          <a:noFill/>
        </p:spPr>
        <p:txBody>
          <a:bodyPr wrap="square" anchor="t" lIns="45720" rIns="45720">
            <a:spAutoFit/>
          </a:bodyPr>
          <a:lstStyle/>
          <a:p>
            <a:pPr algn="ctr"/>
            <a:r>
              <a:rPr sz="1200" b="0" i="0">
                <a:solidFill>
                  <a:srgbClr val="3D3A55"/>
                </a:solidFill>
                <a:latin typeface="Calibri"/>
              </a:rPr>
              <a:t>n</a:t>
            </a:r>
          </a:p>
        </p:txBody>
      </p:sp>
      <p:sp>
        <p:nvSpPr>
          <p:cNvPr id="20" name="TextBox 19"/>
          <p:cNvSpPr txBox="1"/>
          <p:nvPr/>
        </p:nvSpPr>
        <p:spPr>
          <a:xfrm>
            <a:off x="548640" y="5349240"/>
            <a:ext cx="5669280" cy="822960"/>
          </a:xfrm>
          <a:prstGeom prst="rect">
            <a:avLst/>
          </a:prstGeom>
          <a:noFill/>
        </p:spPr>
        <p:txBody>
          <a:bodyPr wrap="square" anchor="t" lIns="45720" rIns="45720">
            <a:spAutoFit/>
          </a:bodyPr>
          <a:lstStyle/>
          <a:p>
            <a:pPr algn="l"/>
            <a:r>
              <a:rPr sz="1200" b="0" i="0">
                <a:solidFill>
                  <a:srgbClr val="6B6880"/>
                </a:solidFill>
                <a:latin typeface="Calibri"/>
              </a:rPr>
              <a:t>K&amp;G default sizes shown; code layer has dropout 0.8.</a:t>
            </a:r>
          </a:p>
          <a:p>
            <a:pPr algn="l"/>
            <a:r>
              <a:rPr sz="1200" b="0" i="0">
                <a:solidFill>
                  <a:srgbClr val="6B6880"/>
                </a:solidFill>
                <a:latin typeface="Calibri"/>
              </a:rPr>
              <a:t>Tuned on validation: [256, 128] (MovieLens)</a:t>
            </a:r>
          </a:p>
        </p:txBody>
      </p:sp>
      <p:sp>
        <p:nvSpPr>
          <p:cNvPr id="21" name="TextBox 20"/>
          <p:cNvSpPr txBox="1"/>
          <p:nvPr/>
        </p:nvSpPr>
        <p:spPr>
          <a:xfrm>
            <a:off x="6400800" y="1600200"/>
            <a:ext cx="5303520" cy="4572000"/>
          </a:xfrm>
          <a:prstGeom prst="rect">
            <a:avLst/>
          </a:prstGeom>
          <a:noFill/>
        </p:spPr>
        <p:txBody>
          <a:bodyPr wrap="square">
            <a:spAutoFit/>
          </a:bodyPr>
          <a:lstStyle/>
          <a:p>
            <a:pPr marL="256032" indent="-256032">
              <a:spcAft>
                <a:spcPts val="800"/>
              </a:spcAft>
              <a:buChar char="•"/>
            </a:pPr>
            <a:r>
              <a:rPr b="1" sz="1600">
                <a:solidFill>
                  <a:srgbClr val="1F1B3A"/>
                </a:solidFill>
                <a:latin typeface="Calibri"/>
              </a:rPr>
              <a:t>Input: </a:t>
            </a:r>
            <a:r>
              <a:rPr sz="1600">
                <a:solidFill>
                  <a:srgbClr val="1F1B3A"/>
                </a:solidFill>
                <a:latin typeface="Calibri"/>
              </a:rPr>
              <a:t>one user = ratings of all titles, 0 = unknown (+ gender and 5 age groups).</a:t>
            </a:r>
          </a:p>
          <a:p>
            <a:pPr marL="256032" indent="-256032">
              <a:spcAft>
                <a:spcPts val="800"/>
              </a:spcAft>
              <a:buChar char="•"/>
            </a:pPr>
            <a:r>
              <a:rPr b="1" sz="1600">
                <a:solidFill>
                  <a:srgbClr val="1F1B3A"/>
                </a:solidFill>
                <a:latin typeface="Calibri"/>
              </a:rPr>
              <a:t>Activations: </a:t>
            </a:r>
            <a:r>
              <a:rPr sz="1600">
                <a:solidFill>
                  <a:srgbClr val="1F1B3A"/>
                </a:solidFill>
                <a:latin typeface="Calibri"/>
              </a:rPr>
              <a:t>SELU in hidden layers, ReLU on the output (ratings are never negative).</a:t>
            </a:r>
          </a:p>
          <a:p>
            <a:pPr marL="256032" indent="-256032">
              <a:spcAft>
                <a:spcPts val="800"/>
              </a:spcAft>
              <a:buChar char="•"/>
            </a:pPr>
            <a:r>
              <a:rPr b="1" sz="1600">
                <a:solidFill>
                  <a:srgbClr val="1F1B3A"/>
                </a:solidFill>
                <a:latin typeface="Calibri"/>
              </a:rPr>
              <a:t>Masked MSE: </a:t>
            </a:r>
            <a:r>
              <a:rPr sz="1600">
                <a:solidFill>
                  <a:srgbClr val="1F1B3A"/>
                </a:solidFill>
                <a:latin typeface="Calibri"/>
              </a:rPr>
              <a:t>error is counted only where a real rating exists.</a:t>
            </a:r>
          </a:p>
          <a:p>
            <a:pPr marL="256032" indent="-256032">
              <a:spcAft>
                <a:spcPts val="800"/>
              </a:spcAft>
              <a:buChar char="•"/>
            </a:pPr>
            <a:r>
              <a:rPr b="1" sz="1600">
                <a:solidFill>
                  <a:srgbClr val="1F1B3A"/>
                </a:solidFill>
                <a:latin typeface="Calibri"/>
              </a:rPr>
              <a:t>Dense re-feeding: </a:t>
            </a:r>
            <a:r>
              <a:rPr sz="1600">
                <a:solidFill>
                  <a:srgbClr val="1F1B3A"/>
                </a:solidFill>
                <a:latin typeface="Calibri"/>
              </a:rPr>
              <a:t>the dense output f(x) is fed back as a new input with target f(x).</a:t>
            </a:r>
          </a:p>
          <a:p>
            <a:pPr marL="256032" indent="-256032">
              <a:spcAft>
                <a:spcPts val="800"/>
              </a:spcAft>
              <a:buChar char="•"/>
            </a:pPr>
            <a:r>
              <a:rPr b="1" sz="1600">
                <a:solidFill>
                  <a:srgbClr val="1F1B3A"/>
                </a:solidFill>
                <a:latin typeface="Calibri"/>
              </a:rPr>
              <a:t>Prediction: </a:t>
            </a:r>
            <a:r>
              <a:rPr sz="1600">
                <a:solidFill>
                  <a:srgbClr val="1F1B3A"/>
                </a:solidFill>
                <a:latin typeface="Calibri"/>
              </a:rPr>
              <a:t>the reconstructed value at an unrated position is the predicted rating.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6</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Exact reproduction vs simplified replication</a:t>
            </a:r>
          </a:p>
        </p:txBody>
      </p:sp>
      <p:graphicFrame>
        <p:nvGraphicFramePr>
          <p:cNvPr id="5" name="Table 4"/>
          <p:cNvGraphicFramePr>
            <a:graphicFrameLocks noGrp="1"/>
          </p:cNvGraphicFramePr>
          <p:nvPr/>
        </p:nvGraphicFramePr>
        <p:xfrm>
          <a:off x="548640" y="1371600"/>
          <a:ext cx="11064240" cy="4727448"/>
        </p:xfrm>
        <a:graphic>
          <a:graphicData uri="http://schemas.openxmlformats.org/drawingml/2006/table">
            <a:tbl>
              <a:tblPr firstRow="1" bandRow="1">
                <a:tableStyleId>{5C22544A-7EE6-4342-B048-85BDC9FD1C3A}</a:tableStyleId>
              </a:tblPr>
              <a:tblGrid>
                <a:gridCol w="6583680"/>
                <a:gridCol w="4480560"/>
              </a:tblGrid>
              <a:tr h="429768">
                <a:tc>
                  <a:txBody>
                    <a:bodyPr/>
                    <a:lstStyle/>
                    <a:p>
                      <a:r>
                        <a:rPr sz="1400" b="1">
                          <a:solidFill>
                            <a:srgbClr val="FFFFFF"/>
                          </a:solidFill>
                          <a:latin typeface="Calibri"/>
                        </a:rPr>
                        <a:t>Component</a:t>
                      </a:r>
                    </a:p>
                  </a:txBody>
                  <a:tcPr marL="73152" marR="73152" marT="27432" marB="27432" anchor="ctr">
                    <a:solidFill>
                      <a:srgbClr val="1F1B3A"/>
                    </a:solidFill>
                  </a:tcPr>
                </a:tc>
                <a:tc>
                  <a:txBody>
                    <a:bodyPr/>
                    <a:lstStyle/>
                    <a:p>
                      <a:r>
                        <a:rPr sz="1400" b="1">
                          <a:solidFill>
                            <a:srgbClr val="FFFFFF"/>
                          </a:solidFill>
                          <a:latin typeface="Calibri"/>
                        </a:rPr>
                        <a:t>Status</a:t>
                      </a:r>
                    </a:p>
                  </a:txBody>
                  <a:tcPr marL="73152" marR="73152" marT="27432" marB="27432" anchor="ctr">
                    <a:solidFill>
                      <a:srgbClr val="1F1B3A"/>
                    </a:solidFill>
                  </a:tcPr>
                </a:tc>
              </a:tr>
              <a:tr h="429768">
                <a:tc>
                  <a:txBody>
                    <a:bodyPr/>
                    <a:lstStyle/>
                    <a:p>
                      <a:r>
                        <a:rPr sz="1400" b="0">
                          <a:solidFill>
                            <a:srgbClr val="1F1B3A"/>
                          </a:solidFill>
                          <a:latin typeface="Calibri"/>
                        </a:rPr>
                        <a:t>Autoencoder: SELU/ReLU, masked MSE, re-feeding</a:t>
                      </a:r>
                    </a:p>
                  </a:txBody>
                  <a:tcPr marL="73152" marR="73152" marT="27432" marB="27432" anchor="ctr">
                    <a:solidFill>
                      <a:srgbClr val="FFFFFF"/>
                    </a:solidFill>
                  </a:tcPr>
                </a:tc>
                <a:tc>
                  <a:txBody>
                    <a:bodyPr/>
                    <a:lstStyle/>
                    <a:p>
                      <a:r>
                        <a:rPr sz="1400" b="0">
                          <a:solidFill>
                            <a:srgbClr val="1F1B3A"/>
                          </a:solidFill>
                          <a:latin typeface="Calibri"/>
                        </a:rPr>
                        <a:t>Faithful</a:t>
                      </a:r>
                    </a:p>
                  </a:txBody>
                  <a:tcPr marL="73152" marR="73152" marT="27432" marB="27432" anchor="ctr">
                    <a:solidFill>
                      <a:srgbClr val="FFFFFF"/>
                    </a:solidFill>
                  </a:tcPr>
                </a:tc>
              </a:tr>
              <a:tr h="429768">
                <a:tc>
                  <a:txBody>
                    <a:bodyPr/>
                    <a:lstStyle/>
                    <a:p>
                      <a:r>
                        <a:rPr sz="1400" b="0">
                          <a:solidFill>
                            <a:srgbClr val="1F1B3A"/>
                          </a:solidFill>
                          <a:latin typeface="Calibri"/>
                        </a:rPr>
                        <a:t>5 % per-user hold-out, MSE/RMSE</a:t>
                      </a:r>
                    </a:p>
                  </a:txBody>
                  <a:tcPr marL="73152" marR="73152" marT="27432" marB="27432" anchor="ctr">
                    <a:solidFill>
                      <a:srgbClr val="F4F4F7"/>
                    </a:solidFill>
                  </a:tcPr>
                </a:tc>
                <a:tc>
                  <a:txBody>
                    <a:bodyPr/>
                    <a:lstStyle/>
                    <a:p>
                      <a:r>
                        <a:rPr sz="1400" b="0">
                          <a:solidFill>
                            <a:srgbClr val="1F1B3A"/>
                          </a:solidFill>
                          <a:latin typeface="Calibri"/>
                        </a:rPr>
                        <a:t>Faithful</a:t>
                      </a:r>
                    </a:p>
                  </a:txBody>
                  <a:tcPr marL="73152" marR="73152" marT="27432" marB="27432" anchor="ctr">
                    <a:solidFill>
                      <a:srgbClr val="F4F4F7"/>
                    </a:solidFill>
                  </a:tcPr>
                </a:tc>
              </a:tr>
              <a:tr h="429768">
                <a:tc>
                  <a:txBody>
                    <a:bodyPr/>
                    <a:lstStyle/>
                    <a:p>
                      <a:r>
                        <a:rPr sz="1400" b="0">
                          <a:solidFill>
                            <a:srgbClr val="1F1B3A"/>
                          </a:solidFill>
                          <a:latin typeface="Calibri"/>
                        </a:rPr>
                        <a:t>MovieLens-100K benchmark (Table 4)</a:t>
                      </a:r>
                    </a:p>
                  </a:txBody>
                  <a:tcPr marL="73152" marR="73152" marT="27432" marB="27432" anchor="ctr">
                    <a:solidFill>
                      <a:srgbClr val="FFFFFF"/>
                    </a:solidFill>
                  </a:tcPr>
                </a:tc>
                <a:tc>
                  <a:txBody>
                    <a:bodyPr/>
                    <a:lstStyle/>
                    <a:p>
                      <a:r>
                        <a:rPr sz="1400" b="0">
                          <a:solidFill>
                            <a:srgbClr val="1F1B3A"/>
                          </a:solidFill>
                          <a:latin typeface="Calibri"/>
                        </a:rPr>
                        <a:t>Faithful, same public data</a:t>
                      </a:r>
                    </a:p>
                  </a:txBody>
                  <a:tcPr marL="73152" marR="73152" marT="27432" marB="27432" anchor="ctr">
                    <a:solidFill>
                      <a:srgbClr val="FFFFFF"/>
                    </a:solidFill>
                  </a:tcPr>
                </a:tc>
              </a:tr>
              <a:tr h="429768">
                <a:tc>
                  <a:txBody>
                    <a:bodyPr/>
                    <a:lstStyle/>
                    <a:p>
                      <a:r>
                        <a:rPr sz="1400" b="0">
                          <a:solidFill>
                            <a:srgbClr val="1F1B3A"/>
                          </a:solidFill>
                          <a:latin typeface="Calibri"/>
                        </a:rPr>
                        <a:t>Spectral clustering, 222 clusters; Algorithm 1; hybrid filter</a:t>
                      </a:r>
                    </a:p>
                  </a:txBody>
                  <a:tcPr marL="73152" marR="73152" marT="27432" marB="27432" anchor="ctr">
                    <a:solidFill>
                      <a:srgbClr val="F4F4F7"/>
                    </a:solidFill>
                  </a:tcPr>
                </a:tc>
                <a:tc>
                  <a:txBody>
                    <a:bodyPr/>
                    <a:lstStyle/>
                    <a:p>
                      <a:r>
                        <a:rPr sz="1400" b="0">
                          <a:solidFill>
                            <a:srgbClr val="1F1B3A"/>
                          </a:solidFill>
                          <a:latin typeface="Calibri"/>
                        </a:rPr>
                        <a:t>Faithful</a:t>
                      </a:r>
                    </a:p>
                  </a:txBody>
                  <a:tcPr marL="73152" marR="73152" marT="27432" marB="27432" anchor="ctr">
                    <a:solidFill>
                      <a:srgbClr val="F4F4F7"/>
                    </a:solidFill>
                  </a:tcPr>
                </a:tc>
              </a:tr>
              <a:tr h="429768">
                <a:tc>
                  <a:txBody>
                    <a:bodyPr/>
                    <a:lstStyle/>
                    <a:p>
                      <a:r>
                        <a:rPr sz="1400" b="1">
                          <a:solidFill>
                            <a:srgbClr val="1F1B3A"/>
                          </a:solidFill>
                          <a:latin typeface="Calibri"/>
                        </a:rPr>
                        <a:t>Layer sizes, dropout, optimiser, d, t, like threshold</a:t>
                      </a:r>
                    </a:p>
                  </a:txBody>
                  <a:tcPr marL="73152" marR="73152" marT="27432" marB="27432" anchor="ctr">
                    <a:solidFill>
                      <a:srgbClr val="EAF1FB"/>
                    </a:solidFill>
                  </a:tcPr>
                </a:tc>
                <a:tc>
                  <a:txBody>
                    <a:bodyPr/>
                    <a:lstStyle/>
                    <a:p>
                      <a:r>
                        <a:rPr sz="1400" b="1">
                          <a:solidFill>
                            <a:srgbClr val="1F1B3A"/>
                          </a:solidFill>
                          <a:latin typeface="Calibri"/>
                        </a:rPr>
                        <a:t>Not in paper: chosen on validation</a:t>
                      </a:r>
                    </a:p>
                  </a:txBody>
                  <a:tcPr marL="73152" marR="73152" marT="27432" marB="27432" anchor="ctr">
                    <a:solidFill>
                      <a:srgbClr val="EAF1FB"/>
                    </a:solidFill>
                  </a:tcPr>
                </a:tc>
              </a:tr>
              <a:tr h="429768">
                <a:tc>
                  <a:txBody>
                    <a:bodyPr/>
                    <a:lstStyle/>
                    <a:p>
                      <a:r>
                        <a:rPr sz="1400" b="1">
                          <a:solidFill>
                            <a:srgbClr val="1F1B3A"/>
                          </a:solidFill>
                          <a:latin typeface="Calibri"/>
                        </a:rPr>
                        <a:t>Self-tuning cluster count (Table 1)</a:t>
                      </a:r>
                    </a:p>
                  </a:txBody>
                  <a:tcPr marL="73152" marR="73152" marT="27432" marB="27432" anchor="ctr">
                    <a:solidFill>
                      <a:srgbClr val="EAF1FB"/>
                    </a:solidFill>
                  </a:tcPr>
                </a:tc>
                <a:tc>
                  <a:txBody>
                    <a:bodyPr/>
                    <a:lstStyle/>
                    <a:p>
                      <a:r>
                        <a:rPr sz="1400" b="1">
                          <a:solidFill>
                            <a:srgbClr val="1F1B3A"/>
                          </a:solidFill>
                          <a:latin typeface="Calibri"/>
                        </a:rPr>
                        <a:t>Approximated (eigengap)</a:t>
                      </a:r>
                    </a:p>
                  </a:txBody>
                  <a:tcPr marL="73152" marR="73152" marT="27432" marB="27432" anchor="ctr">
                    <a:solidFill>
                      <a:srgbClr val="EAF1FB"/>
                    </a:solidFill>
                  </a:tcPr>
                </a:tc>
              </a:tr>
              <a:tr h="429768">
                <a:tc>
                  <a:txBody>
                    <a:bodyPr/>
                    <a:lstStyle/>
                    <a:p>
                      <a:r>
                        <a:rPr sz="1400" b="1">
                          <a:solidFill>
                            <a:srgbClr val="1F1B3A"/>
                          </a:solidFill>
                          <a:latin typeface="Calibri"/>
                        </a:rPr>
                        <a:t>MyAnimeList anime data + demographics</a:t>
                      </a:r>
                    </a:p>
                  </a:txBody>
                  <a:tcPr marL="73152" marR="73152" marT="27432" marB="27432" anchor="ctr">
                    <a:solidFill>
                      <a:srgbClr val="EAF1FB"/>
                    </a:solidFill>
                  </a:tcPr>
                </a:tc>
                <a:tc>
                  <a:txBody>
                    <a:bodyPr/>
                    <a:lstStyle/>
                    <a:p>
                      <a:r>
                        <a:rPr sz="1400" b="1">
                          <a:solidFill>
                            <a:srgbClr val="1F1B3A"/>
                          </a:solidFill>
                          <a:latin typeface="Calibri"/>
                        </a:rPr>
                        <a:t>Substituted: Kaggle anime data</a:t>
                      </a:r>
                    </a:p>
                  </a:txBody>
                  <a:tcPr marL="73152" marR="73152" marT="27432" marB="27432" anchor="ctr">
                    <a:solidFill>
                      <a:srgbClr val="EAF1FB"/>
                    </a:solidFill>
                  </a:tcPr>
                </a:tc>
              </a:tr>
              <a:tr h="429768">
                <a:tc>
                  <a:txBody>
                    <a:bodyPr/>
                    <a:lstStyle/>
                    <a:p>
                      <a:r>
                        <a:rPr sz="1400" b="1">
                          <a:solidFill>
                            <a:srgbClr val="1F1B3A"/>
                          </a:solidFill>
                          <a:latin typeface="Calibri"/>
                        </a:rPr>
                        <a:t>'Last 3 rated' (needs timestamps)</a:t>
                      </a:r>
                    </a:p>
                  </a:txBody>
                  <a:tcPr marL="73152" marR="73152" marT="27432" marB="27432" anchor="ctr">
                    <a:solidFill>
                      <a:srgbClr val="EAF1FB"/>
                    </a:solidFill>
                  </a:tcPr>
                </a:tc>
                <a:tc>
                  <a:txBody>
                    <a:bodyPr/>
                    <a:lstStyle/>
                    <a:p>
                      <a:r>
                        <a:rPr sz="1400" b="1">
                          <a:solidFill>
                            <a:srgbClr val="1F1B3A"/>
                          </a:solidFill>
                          <a:latin typeface="Calibri"/>
                        </a:rPr>
                        <a:t>Approximated: 3 random known titles</a:t>
                      </a:r>
                    </a:p>
                  </a:txBody>
                  <a:tcPr marL="73152" marR="73152" marT="27432" marB="27432" anchor="ctr">
                    <a:solidFill>
                      <a:srgbClr val="EAF1FB"/>
                    </a:solidFill>
                  </a:tcPr>
                </a:tc>
              </a:tr>
              <a:tr h="429768">
                <a:tc>
                  <a:txBody>
                    <a:bodyPr/>
                    <a:lstStyle/>
                    <a:p>
                      <a:r>
                        <a:rPr sz="1400" b="0">
                          <a:solidFill>
                            <a:srgbClr val="1F1B3A"/>
                          </a:solidFill>
                          <a:latin typeface="Calibri"/>
                        </a:rPr>
                        <a:t>Baselines</a:t>
                      </a:r>
                    </a:p>
                  </a:txBody>
                  <a:tcPr marL="73152" marR="73152" marT="27432" marB="27432" anchor="ctr">
                    <a:solidFill>
                      <a:srgbClr val="FFFFFF"/>
                    </a:solidFill>
                  </a:tcPr>
                </a:tc>
                <a:tc>
                  <a:txBody>
                    <a:bodyPr/>
                    <a:lstStyle/>
                    <a:p>
                      <a:r>
                        <a:rPr sz="1400" b="0">
                          <a:solidFill>
                            <a:srgbClr val="1F1B3A"/>
                          </a:solidFill>
                          <a:latin typeface="Calibri"/>
                        </a:rPr>
                        <a:t>Re-trained on our split (paper copied them)</a:t>
                      </a:r>
                    </a:p>
                  </a:txBody>
                  <a:tcPr marL="73152" marR="73152" marT="27432" marB="27432" anchor="ctr">
                    <a:solidFill>
                      <a:srgbClr val="FFFFFF"/>
                    </a:solidFill>
                  </a:tcPr>
                </a:tc>
              </a:tr>
              <a:tr h="429768">
                <a:tc>
                  <a:txBody>
                    <a:bodyPr/>
                    <a:lstStyle/>
                    <a:p>
                      <a:r>
                        <a:rPr sz="1400" b="0">
                          <a:solidFill>
                            <a:srgbClr val="1F1B3A"/>
                          </a:solidFill>
                          <a:latin typeface="Calibri"/>
                        </a:rPr>
                        <a:t>20-person user study</a:t>
                      </a:r>
                    </a:p>
                  </a:txBody>
                  <a:tcPr marL="73152" marR="73152" marT="27432" marB="27432" anchor="ctr">
                    <a:solidFill>
                      <a:srgbClr val="F4F4F7"/>
                    </a:solidFill>
                  </a:tcPr>
                </a:tc>
                <a:tc>
                  <a:txBody>
                    <a:bodyPr/>
                    <a:lstStyle/>
                    <a:p>
                      <a:r>
                        <a:rPr sz="1400" b="0">
                          <a:solidFill>
                            <a:srgbClr val="1F1B3A"/>
                          </a:solidFill>
                          <a:latin typeface="Calibri"/>
                        </a:rPr>
                        <a:t>Not replicated</a:t>
                      </a:r>
                    </a:p>
                  </a:txBody>
                  <a:tcPr marL="73152" marR="73152" marT="27432" marB="27432" anchor="ctr">
                    <a:solidFill>
                      <a:srgbClr val="F4F4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7</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Data and evaluation protocol</a:t>
            </a:r>
          </a:p>
        </p:txBody>
      </p:sp>
      <p:sp>
        <p:nvSpPr>
          <p:cNvPr id="5" name="Rounded Rectangle 4"/>
          <p:cNvSpPr/>
          <p:nvPr/>
        </p:nvSpPr>
        <p:spPr>
          <a:xfrm>
            <a:off x="548640" y="1463040"/>
            <a:ext cx="3566160" cy="23317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3200400" cy="457200"/>
          </a:xfrm>
          <a:prstGeom prst="rect">
            <a:avLst/>
          </a:prstGeom>
          <a:noFill/>
        </p:spPr>
        <p:txBody>
          <a:bodyPr wrap="square" anchor="t" lIns="45720" rIns="45720">
            <a:spAutoFit/>
          </a:bodyPr>
          <a:lstStyle/>
          <a:p>
            <a:pPr algn="l"/>
            <a:r>
              <a:rPr sz="2000" b="1" i="0">
                <a:solidFill>
                  <a:srgbClr val="1F1B3A"/>
                </a:solidFill>
                <a:latin typeface="Calibri"/>
              </a:rPr>
              <a:t>MovieLens-100K</a:t>
            </a:r>
          </a:p>
        </p:txBody>
      </p:sp>
      <p:sp>
        <p:nvSpPr>
          <p:cNvPr id="7" name="TextBox 6"/>
          <p:cNvSpPr txBox="1"/>
          <p:nvPr/>
        </p:nvSpPr>
        <p:spPr>
          <a:xfrm>
            <a:off x="777240" y="2103120"/>
            <a:ext cx="3200400" cy="1645920"/>
          </a:xfrm>
          <a:prstGeom prst="rect">
            <a:avLst/>
          </a:prstGeom>
          <a:noFill/>
        </p:spPr>
        <p:txBody>
          <a:bodyPr wrap="square" anchor="t" lIns="45720" rIns="45720">
            <a:spAutoFit/>
          </a:bodyPr>
          <a:lstStyle/>
          <a:p>
            <a:pPr algn="l"/>
            <a:r>
              <a:rPr sz="1500" b="0" i="0">
                <a:solidFill>
                  <a:srgbClr val="3D3A55"/>
                </a:solidFill>
                <a:latin typeface="Calibri"/>
              </a:rPr>
              <a:t>943 users · 1,682 movies</a:t>
            </a:r>
          </a:p>
          <a:p>
            <a:pPr algn="l"/>
            <a:r>
              <a:rPr sz="1500" b="0" i="0">
                <a:solidFill>
                  <a:srgbClr val="3D3A55"/>
                </a:solidFill>
                <a:latin typeface="Calibri"/>
              </a:rPr>
              <a:t>100,000 ratings, 1-5</a:t>
            </a:r>
          </a:p>
          <a:p>
            <a:pPr algn="l"/>
            <a:r>
              <a:rPr sz="1500" b="0" i="0">
                <a:solidFill>
                  <a:srgbClr val="3D3A55"/>
                </a:solidFill>
                <a:latin typeface="Calibri"/>
              </a:rPr>
              <a:t>same data as paper Table 4</a:t>
            </a:r>
          </a:p>
          <a:p>
            <a:pPr algn="l"/>
            <a:r>
              <a:rPr sz="1500" b="0" i="0">
                <a:solidFill>
                  <a:srgbClr val="3D3A55"/>
                </a:solidFill>
                <a:latin typeface="Calibri"/>
              </a:rPr>
              <a:t>has age + gender</a:t>
            </a:r>
          </a:p>
        </p:txBody>
      </p:sp>
      <p:sp>
        <p:nvSpPr>
          <p:cNvPr id="8" name="Rounded Rectangle 7"/>
          <p:cNvSpPr/>
          <p:nvPr/>
        </p:nvSpPr>
        <p:spPr>
          <a:xfrm>
            <a:off x="4343400" y="1463040"/>
            <a:ext cx="3566160" cy="2331720"/>
          </a:xfrm>
          <a:prstGeom prst="roundRect">
            <a:avLst>
              <a:gd name="adj" fmla="val 8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3200400" cy="457200"/>
          </a:xfrm>
          <a:prstGeom prst="rect">
            <a:avLst/>
          </a:prstGeom>
          <a:noFill/>
        </p:spPr>
        <p:txBody>
          <a:bodyPr wrap="square" anchor="t" lIns="45720" rIns="45720">
            <a:spAutoFit/>
          </a:bodyPr>
          <a:lstStyle/>
          <a:p>
            <a:pPr algn="l"/>
            <a:r>
              <a:rPr sz="2000" b="1" i="0">
                <a:solidFill>
                  <a:srgbClr val="1F1B3A"/>
                </a:solidFill>
                <a:latin typeface="Calibri"/>
              </a:rPr>
              <a:t>Anime (Kaggle)</a:t>
            </a:r>
          </a:p>
        </p:txBody>
      </p:sp>
      <p:sp>
        <p:nvSpPr>
          <p:cNvPr id="10" name="TextBox 9"/>
          <p:cNvSpPr txBox="1"/>
          <p:nvPr/>
        </p:nvSpPr>
        <p:spPr>
          <a:xfrm>
            <a:off x="4572000" y="2103120"/>
            <a:ext cx="3200400" cy="1645920"/>
          </a:xfrm>
          <a:prstGeom prst="rect">
            <a:avLst/>
          </a:prstGeom>
          <a:noFill/>
        </p:spPr>
        <p:txBody>
          <a:bodyPr wrap="square" anchor="t" lIns="45720" rIns="45720">
            <a:spAutoFit/>
          </a:bodyPr>
          <a:lstStyle/>
          <a:p>
            <a:pPr algn="l"/>
            <a:r>
              <a:rPr sz="1500" b="0" i="0">
                <a:solidFill>
                  <a:srgbClr val="3D3A55"/>
                </a:solidFill>
                <a:latin typeface="Calibri"/>
              </a:rPr>
              <a:t>16,384 users · 6,668 titles</a:t>
            </a:r>
          </a:p>
          <a:p>
            <a:pPr algn="l"/>
            <a:r>
              <a:rPr sz="1500" b="0" i="0">
                <a:solidFill>
                  <a:srgbClr val="3D3A55"/>
                </a:solidFill>
                <a:latin typeface="Calibri"/>
              </a:rPr>
              <a:t>4,355,489 ratings, 1-10</a:t>
            </a:r>
          </a:p>
          <a:p>
            <a:pPr algn="l"/>
            <a:r>
              <a:rPr sz="1500" b="0" i="0">
                <a:solidFill>
                  <a:srgbClr val="3D3A55"/>
                </a:solidFill>
                <a:latin typeface="Calibri"/>
              </a:rPr>
              <a:t>43 genres (same as paper)</a:t>
            </a:r>
          </a:p>
          <a:p>
            <a:pPr algn="l"/>
            <a:r>
              <a:rPr sz="1500" b="0" i="0">
                <a:solidFill>
                  <a:srgbClr val="3D3A55"/>
                </a:solidFill>
                <a:latin typeface="Calibri"/>
              </a:rPr>
              <a:t>ALTERNATIVE dataset</a:t>
            </a:r>
          </a:p>
        </p:txBody>
      </p:sp>
      <p:sp>
        <p:nvSpPr>
          <p:cNvPr id="11" name="TextBox 10"/>
          <p:cNvSpPr txBox="1"/>
          <p:nvPr/>
        </p:nvSpPr>
        <p:spPr>
          <a:xfrm>
            <a:off x="8138160" y="1600200"/>
            <a:ext cx="3657600" cy="457200"/>
          </a:xfrm>
          <a:prstGeom prst="rect">
            <a:avLst/>
          </a:prstGeom>
          <a:noFill/>
        </p:spPr>
        <p:txBody>
          <a:bodyPr wrap="square" anchor="t" lIns="45720" rIns="45720">
            <a:spAutoFit/>
          </a:bodyPr>
          <a:lstStyle/>
          <a:p>
            <a:pPr algn="l"/>
            <a:r>
              <a:rPr sz="2000" b="1" i="0">
                <a:solidFill>
                  <a:srgbClr val="1F1B3A"/>
                </a:solidFill>
                <a:latin typeface="Calibri"/>
              </a:rPr>
              <a:t>Per-user split</a:t>
            </a:r>
          </a:p>
        </p:txBody>
      </p:sp>
      <p:sp>
        <p:nvSpPr>
          <p:cNvPr id="12" name="Rectangle 11"/>
          <p:cNvSpPr/>
          <p:nvPr/>
        </p:nvSpPr>
        <p:spPr>
          <a:xfrm>
            <a:off x="8183879" y="2240280"/>
            <a:ext cx="3209544" cy="5029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393424" y="2240280"/>
            <a:ext cx="178308" cy="5029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571732" y="2240280"/>
            <a:ext cx="178308" cy="5029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834640"/>
            <a:ext cx="3657600" cy="914400"/>
          </a:xfrm>
          <a:prstGeom prst="rect">
            <a:avLst/>
          </a:prstGeom>
          <a:noFill/>
        </p:spPr>
        <p:txBody>
          <a:bodyPr wrap="square" anchor="t" lIns="45720" rIns="45720">
            <a:spAutoFit/>
          </a:bodyPr>
          <a:lstStyle/>
          <a:p>
            <a:pPr algn="l"/>
            <a:r>
              <a:rPr sz="1300" b="0" i="0">
                <a:solidFill>
                  <a:srgbClr val="6B6880"/>
                </a:solidFill>
                <a:latin typeface="Calibri"/>
              </a:rPr>
              <a:t>train 90 %  ·  validation 5 %  ·  test 5 %</a:t>
            </a:r>
          </a:p>
          <a:p>
            <a:pPr algn="l"/>
            <a:r>
              <a:rPr sz="1300" b="0" i="0">
                <a:solidFill>
                  <a:srgbClr val="6B6880"/>
                </a:solidFill>
                <a:latin typeface="Calibri"/>
              </a:rPr>
              <a:t>(same idea as the paper's 5 % hold-out)</a:t>
            </a:r>
          </a:p>
        </p:txBody>
      </p:sp>
      <p:sp>
        <p:nvSpPr>
          <p:cNvPr id="16" name="TextBox 15"/>
          <p:cNvSpPr txBox="1"/>
          <p:nvPr/>
        </p:nvSpPr>
        <p:spPr>
          <a:xfrm>
            <a:off x="548640" y="4114800"/>
            <a:ext cx="11064240" cy="2103120"/>
          </a:xfrm>
          <a:prstGeom prst="rect">
            <a:avLst/>
          </a:prstGeom>
          <a:noFill/>
        </p:spPr>
        <p:txBody>
          <a:bodyPr wrap="square">
            <a:spAutoFit/>
          </a:bodyPr>
          <a:lstStyle/>
          <a:p>
            <a:pPr marL="256032" indent="-256032">
              <a:spcAft>
                <a:spcPts val="800"/>
              </a:spcAft>
              <a:buChar char="•"/>
            </a:pPr>
            <a:r>
              <a:rPr b="1" sz="1600">
                <a:solidFill>
                  <a:srgbClr val="1F1B3A"/>
                </a:solidFill>
                <a:latin typeface="Calibri"/>
              </a:rPr>
              <a:t>No leakage: </a:t>
            </a:r>
            <a:r>
              <a:rPr sz="1600">
                <a:solidFill>
                  <a:srgbClr val="1F1B3A"/>
                </a:solidFill>
                <a:latin typeface="Calibri"/>
              </a:rPr>
              <a:t>test ratings are removed from every model's input; tuning uses validation only; embeddings and clusters use training ratings only.</a:t>
            </a:r>
          </a:p>
          <a:p>
            <a:pPr marL="256032" indent="-256032">
              <a:spcAft>
                <a:spcPts val="800"/>
              </a:spcAft>
              <a:buChar char="•"/>
            </a:pPr>
            <a:r>
              <a:rPr b="1" sz="1600">
                <a:solidFill>
                  <a:srgbClr val="1F1B3A"/>
                </a:solidFill>
                <a:latin typeface="Calibri"/>
              </a:rPr>
              <a:t>Fair baselines: </a:t>
            </a:r>
            <a:r>
              <a:rPr sz="1600">
                <a:solidFill>
                  <a:srgbClr val="1F1B3A"/>
                </a:solidFill>
                <a:latin typeface="Calibri"/>
              </a:rPr>
              <a:t>averages, bias model, user/item KNN, biased MF, popularity - all on the same split.</a:t>
            </a:r>
          </a:p>
          <a:p>
            <a:pPr marL="256032" indent="-256032">
              <a:spcAft>
                <a:spcPts val="800"/>
              </a:spcAft>
              <a:buChar char="•"/>
            </a:pPr>
            <a:r>
              <a:rPr b="1" sz="1600">
                <a:solidFill>
                  <a:srgbClr val="1F1B3A"/>
                </a:solidFill>
                <a:latin typeface="Calibri"/>
              </a:rPr>
              <a:t>Metrics: </a:t>
            </a:r>
            <a:r>
              <a:rPr sz="1600">
                <a:solidFill>
                  <a:srgbClr val="1F1B3A"/>
                </a:solidFill>
                <a:latin typeface="Calibri"/>
              </a:rPr>
              <a:t>MSE, RMSE, MAE (paper) + Precision, Recall, NDCG, HitRate @10 (added).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8</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Result 1: MovieLens-100K, paper protocol</a:t>
            </a:r>
          </a:p>
        </p:txBody>
      </p:sp>
      <p:sp>
        <p:nvSpPr>
          <p:cNvPr id="5" name="TextBox 4"/>
          <p:cNvSpPr txBox="1"/>
          <p:nvPr/>
        </p:nvSpPr>
        <p:spPr>
          <a:xfrm>
            <a:off x="548640" y="1024128"/>
            <a:ext cx="11094415" cy="411480"/>
          </a:xfrm>
          <a:prstGeom prst="rect">
            <a:avLst/>
          </a:prstGeom>
          <a:noFill/>
        </p:spPr>
        <p:txBody>
          <a:bodyPr wrap="square" anchor="t" lIns="45720" rIns="45720">
            <a:spAutoFit/>
          </a:bodyPr>
          <a:lstStyle/>
          <a:p>
            <a:pPr algn="l"/>
            <a:r>
              <a:rPr sz="1500" b="0" i="1">
                <a:solidFill>
                  <a:srgbClr val="6B6880"/>
                </a:solidFill>
                <a:latin typeface="Calibri"/>
              </a:rPr>
              <a:t>Test RMSE, lower is better</a:t>
            </a:r>
          </a:p>
        </p:txBody>
      </p:sp>
      <p:graphicFrame>
        <p:nvGraphicFramePr>
          <p:cNvPr id="6" name="Chart 5"/>
          <p:cNvGraphicFramePr>
            <a:graphicFrameLocks noGrp="1"/>
          </p:cNvGraphicFramePr>
          <p:nvPr/>
        </p:nvGraphicFramePr>
        <p:xfrm>
          <a:off x="457200" y="1417320"/>
          <a:ext cx="7223760" cy="4892040"/>
        </p:xfrm>
        <a:graphic>
          <a:graphicData uri="http://schemas.openxmlformats.org/drawingml/2006/chart">
            <c:chart xmlns:c="http://schemas.openxmlformats.org/drawingml/2006/chart" r:id="rId2"/>
          </a:graphicData>
        </a:graphic>
      </p:graphicFrame>
      <p:sp>
        <p:nvSpPr>
          <p:cNvPr id="7" name="TextBox 6"/>
          <p:cNvSpPr txBox="1"/>
          <p:nvPr/>
        </p:nvSpPr>
        <p:spPr>
          <a:xfrm>
            <a:off x="7955279" y="1645920"/>
            <a:ext cx="3749039" cy="4572000"/>
          </a:xfrm>
          <a:prstGeom prst="rect">
            <a:avLst/>
          </a:prstGeom>
          <a:noFill/>
        </p:spPr>
        <p:txBody>
          <a:bodyPr wrap="square">
            <a:spAutoFit/>
          </a:bodyPr>
          <a:lstStyle/>
          <a:p>
            <a:pPr marL="256032" indent="-256032">
              <a:spcAft>
                <a:spcPts val="800"/>
              </a:spcAft>
              <a:buChar char="•"/>
            </a:pPr>
            <a:r>
              <a:rPr b="1" sz="1600">
                <a:solidFill>
                  <a:srgbClr val="1F1B3A"/>
                </a:solidFill>
                <a:latin typeface="Calibri"/>
              </a:rPr>
              <a:t>Ours: </a:t>
            </a:r>
            <a:r>
              <a:rPr sz="1600">
                <a:solidFill>
                  <a:srgbClr val="1F1B3A"/>
                </a:solidFill>
                <a:latin typeface="Calibri"/>
              </a:rPr>
              <a:t>0.942 ± 0.002 (mean of 3 seeds).</a:t>
            </a:r>
          </a:p>
          <a:p>
            <a:pPr marL="256032" indent="-256032">
              <a:spcAft>
                <a:spcPts val="800"/>
              </a:spcAft>
              <a:buChar char="•"/>
            </a:pPr>
            <a:r>
              <a:rPr b="1" sz="1600">
                <a:solidFill>
                  <a:srgbClr val="1F1B3A"/>
                </a:solidFill>
                <a:latin typeface="Calibri"/>
              </a:rPr>
              <a:t>Best baseline: </a:t>
            </a:r>
            <a:r>
              <a:rPr sz="1600">
                <a:solidFill>
                  <a:srgbClr val="1F1B3A"/>
                </a:solidFill>
                <a:latin typeface="Calibri"/>
              </a:rPr>
              <a:t>Biased MF (ALS), 0.942.</a:t>
            </a:r>
          </a:p>
          <a:p>
            <a:pPr marL="256032" indent="-256032">
              <a:spcAft>
                <a:spcPts val="800"/>
              </a:spcAft>
              <a:buChar char="•"/>
            </a:pPr>
            <a:r>
              <a:rPr b="1" sz="1600">
                <a:solidFill>
                  <a:srgbClr val="1F1B3A"/>
                </a:solidFill>
                <a:latin typeface="Calibri"/>
              </a:rPr>
              <a:t>K&amp;G default config: </a:t>
            </a:r>
            <a:r>
              <a:rPr sz="1600">
                <a:solidFill>
                  <a:srgbClr val="1F1B3A"/>
                </a:solidFill>
                <a:latin typeface="Calibri"/>
              </a:rPr>
              <a:t>0.999.</a:t>
            </a:r>
          </a:p>
          <a:p>
            <a:pPr marL="256032" indent="-256032">
              <a:spcAft>
                <a:spcPts val="800"/>
              </a:spcAft>
              <a:buChar char="•"/>
            </a:pPr>
            <a:r>
              <a:rPr b="1" sz="1600">
                <a:solidFill>
                  <a:srgbClr val="1F1B3A"/>
                </a:solidFill>
                <a:latin typeface="Calibri"/>
              </a:rPr>
              <a:t>Paper: </a:t>
            </a:r>
            <a:r>
              <a:rPr sz="1600">
                <a:solidFill>
                  <a:srgbClr val="1F1B3A"/>
                </a:solidFill>
                <a:latin typeface="Calibri"/>
              </a:rPr>
              <a:t>0.591, which we could not approach.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9</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Why the gap? Looking closely at paper Table 4</a:t>
            </a:r>
          </a:p>
        </p:txBody>
      </p:sp>
      <p:graphicFrame>
        <p:nvGraphicFramePr>
          <p:cNvPr id="5" name="Table 4"/>
          <p:cNvGraphicFramePr>
            <a:graphicFrameLocks noGrp="1"/>
          </p:cNvGraphicFramePr>
          <p:nvPr/>
        </p:nvGraphicFramePr>
        <p:xfrm>
          <a:off x="548640" y="1325880"/>
          <a:ext cx="6035040" cy="4736592"/>
        </p:xfrm>
        <a:graphic>
          <a:graphicData uri="http://schemas.openxmlformats.org/drawingml/2006/table">
            <a:tbl>
              <a:tblPr firstRow="1" bandRow="1">
                <a:tableStyleId>{5C22544A-7EE6-4342-B048-85BDC9FD1C3A}</a:tableStyleId>
              </a:tblPr>
              <a:tblGrid>
                <a:gridCol w="2651760"/>
                <a:gridCol w="822960"/>
                <a:gridCol w="822960"/>
                <a:gridCol w="822960"/>
                <a:gridCol w="914400"/>
              </a:tblGrid>
              <a:tr h="338328">
                <a:tc>
                  <a:txBody>
                    <a:bodyPr/>
                    <a:lstStyle/>
                    <a:p>
                      <a:r>
                        <a:rPr sz="1200" b="1">
                          <a:solidFill>
                            <a:srgbClr val="FFFFFF"/>
                          </a:solidFill>
                          <a:latin typeface="Calibri"/>
                        </a:rPr>
                        <a:t>Method</a:t>
                      </a:r>
                    </a:p>
                  </a:txBody>
                  <a:tcPr marL="73152" marR="73152" marT="27432" marB="27432" anchor="ctr">
                    <a:solidFill>
                      <a:srgbClr val="1F1B3A"/>
                    </a:solidFill>
                  </a:tcPr>
                </a:tc>
                <a:tc>
                  <a:txBody>
                    <a:bodyPr/>
                    <a:lstStyle/>
                    <a:p>
                      <a:r>
                        <a:rPr sz="1200" b="1">
                          <a:solidFill>
                            <a:srgbClr val="FFFFFF"/>
                          </a:solidFill>
                          <a:latin typeface="Calibri"/>
                        </a:rPr>
                        <a:t>MSE</a:t>
                      </a:r>
                    </a:p>
                  </a:txBody>
                  <a:tcPr marL="73152" marR="73152" marT="27432" marB="27432" anchor="ctr">
                    <a:solidFill>
                      <a:srgbClr val="1F1B3A"/>
                    </a:solidFill>
                  </a:tcPr>
                </a:tc>
                <a:tc>
                  <a:txBody>
                    <a:bodyPr/>
                    <a:lstStyle/>
                    <a:p>
                      <a:r>
                        <a:rPr sz="1200" b="1">
                          <a:solidFill>
                            <a:srgbClr val="FFFFFF"/>
                          </a:solidFill>
                          <a:latin typeface="Calibri"/>
                        </a:rPr>
                        <a:t>RMSE</a:t>
                      </a:r>
                    </a:p>
                  </a:txBody>
                  <a:tcPr marL="73152" marR="73152" marT="27432" marB="27432" anchor="ctr">
                    <a:solidFill>
                      <a:srgbClr val="1F1B3A"/>
                    </a:solidFill>
                  </a:tcPr>
                </a:tc>
                <a:tc>
                  <a:txBody>
                    <a:bodyPr/>
                    <a:lstStyle/>
                    <a:p>
                      <a:r>
                        <a:rPr sz="1200" b="1">
                          <a:solidFill>
                            <a:srgbClr val="FFFFFF"/>
                          </a:solidFill>
                          <a:latin typeface="Calibri"/>
                        </a:rPr>
                        <a:t>√MSE</a:t>
                      </a:r>
                    </a:p>
                  </a:txBody>
                  <a:tcPr marL="73152" marR="73152" marT="27432" marB="27432" anchor="ctr">
                    <a:solidFill>
                      <a:srgbClr val="1F1B3A"/>
                    </a:solidFill>
                  </a:tcPr>
                </a:tc>
                <a:tc>
                  <a:txBody>
                    <a:bodyPr/>
                    <a:lstStyle/>
                    <a:p>
                      <a:r>
                        <a:rPr sz="1200" b="1">
                          <a:solidFill>
                            <a:srgbClr val="FFFFFF"/>
                          </a:solidFill>
                          <a:latin typeface="Calibri"/>
                        </a:rPr>
                        <a:t>OK?</a:t>
                      </a:r>
                    </a:p>
                  </a:txBody>
                  <a:tcPr marL="73152" marR="73152" marT="27432" marB="27432" anchor="ctr">
                    <a:solidFill>
                      <a:srgbClr val="1F1B3A"/>
                    </a:solidFill>
                  </a:tcPr>
                </a:tc>
              </a:tr>
              <a:tr h="338328">
                <a:tc>
                  <a:txBody>
                    <a:bodyPr/>
                    <a:lstStyle/>
                    <a:p>
                      <a:r>
                        <a:rPr sz="1200" b="0">
                          <a:solidFill>
                            <a:srgbClr val="1F1B3A"/>
                          </a:solidFill>
                          <a:latin typeface="Calibri"/>
                        </a:rPr>
                        <a:t>Global Average</a:t>
                      </a:r>
                    </a:p>
                  </a:txBody>
                  <a:tcPr marL="73152" marR="73152" marT="27432" marB="27432" anchor="ctr">
                    <a:solidFill>
                      <a:srgbClr val="FFFFFF"/>
                    </a:solidFill>
                  </a:tcPr>
                </a:tc>
                <a:tc>
                  <a:txBody>
                    <a:bodyPr/>
                    <a:lstStyle/>
                    <a:p>
                      <a:r>
                        <a:rPr sz="1200" b="0">
                          <a:solidFill>
                            <a:srgbClr val="1F1B3A"/>
                          </a:solidFill>
                          <a:latin typeface="Calibri"/>
                        </a:rPr>
                        <a:t>1.129</a:t>
                      </a:r>
                    </a:p>
                  </a:txBody>
                  <a:tcPr marL="73152" marR="73152" marT="27432" marB="27432" anchor="ctr">
                    <a:solidFill>
                      <a:srgbClr val="FFFFFF"/>
                    </a:solidFill>
                  </a:tcPr>
                </a:tc>
                <a:tc>
                  <a:txBody>
                    <a:bodyPr/>
                    <a:lstStyle/>
                    <a:p>
                      <a:r>
                        <a:rPr sz="1200" b="0">
                          <a:solidFill>
                            <a:srgbClr val="1F1B3A"/>
                          </a:solidFill>
                          <a:latin typeface="Calibri"/>
                        </a:rPr>
                        <a:t>1.062</a:t>
                      </a:r>
                    </a:p>
                  </a:txBody>
                  <a:tcPr marL="73152" marR="73152" marT="27432" marB="27432" anchor="ctr">
                    <a:solidFill>
                      <a:srgbClr val="FFFFFF"/>
                    </a:solidFill>
                  </a:tcPr>
                </a:tc>
                <a:tc>
                  <a:txBody>
                    <a:bodyPr/>
                    <a:lstStyle/>
                    <a:p>
                      <a:r>
                        <a:rPr sz="1200" b="0">
                          <a:solidFill>
                            <a:srgbClr val="1F1B3A"/>
                          </a:solidFill>
                          <a:latin typeface="Calibri"/>
                        </a:rPr>
                        <a:t>1.063</a:t>
                      </a:r>
                    </a:p>
                  </a:txBody>
                  <a:tcPr marL="73152" marR="73152" marT="27432" marB="27432" anchor="ctr">
                    <a:solidFill>
                      <a:srgbClr val="FFFFFF"/>
                    </a:solidFill>
                  </a:tcPr>
                </a:tc>
                <a:tc>
                  <a:txBody>
                    <a:bodyPr/>
                    <a:lstStyle/>
                    <a:p>
                      <a:r>
                        <a:rPr sz="1200" b="0">
                          <a:solidFill>
                            <a:srgbClr val="1F1B3A"/>
                          </a:solidFill>
                          <a:latin typeface="Calibri"/>
                        </a:rPr>
                        <a:t>yes</a:t>
                      </a:r>
                    </a:p>
                  </a:txBody>
                  <a:tcPr marL="73152" marR="73152" marT="27432" marB="27432" anchor="ctr">
                    <a:solidFill>
                      <a:srgbClr val="FFFFFF"/>
                    </a:solidFill>
                  </a:tcPr>
                </a:tc>
              </a:tr>
              <a:tr h="338328">
                <a:tc>
                  <a:txBody>
                    <a:bodyPr/>
                    <a:lstStyle/>
                    <a:p>
                      <a:r>
                        <a:rPr sz="1200" b="0">
                          <a:solidFill>
                            <a:srgbClr val="1F1B3A"/>
                          </a:solidFill>
                          <a:latin typeface="Calibri"/>
                        </a:rPr>
                        <a:t>User Average</a:t>
                      </a:r>
                    </a:p>
                  </a:txBody>
                  <a:tcPr marL="73152" marR="73152" marT="27432" marB="27432" anchor="ctr">
                    <a:solidFill>
                      <a:srgbClr val="F4F4F7"/>
                    </a:solidFill>
                  </a:tcPr>
                </a:tc>
                <a:tc>
                  <a:txBody>
                    <a:bodyPr/>
                    <a:lstStyle/>
                    <a:p>
                      <a:r>
                        <a:rPr sz="1200" b="0">
                          <a:solidFill>
                            <a:srgbClr val="1F1B3A"/>
                          </a:solidFill>
                          <a:latin typeface="Calibri"/>
                        </a:rPr>
                        <a:t>0.929</a:t>
                      </a:r>
                    </a:p>
                  </a:txBody>
                  <a:tcPr marL="73152" marR="73152" marT="27432" marB="27432" anchor="ctr">
                    <a:solidFill>
                      <a:srgbClr val="F4F4F7"/>
                    </a:solidFill>
                  </a:tcPr>
                </a:tc>
                <a:tc>
                  <a:txBody>
                    <a:bodyPr/>
                    <a:lstStyle/>
                    <a:p>
                      <a:r>
                        <a:rPr sz="1200" b="0">
                          <a:solidFill>
                            <a:srgbClr val="1F1B3A"/>
                          </a:solidFill>
                          <a:latin typeface="Calibri"/>
                        </a:rPr>
                        <a:t>0.964</a:t>
                      </a:r>
                    </a:p>
                  </a:txBody>
                  <a:tcPr marL="73152" marR="73152" marT="27432" marB="27432" anchor="ctr">
                    <a:solidFill>
                      <a:srgbClr val="F4F4F7"/>
                    </a:solidFill>
                  </a:tcPr>
                </a:tc>
                <a:tc>
                  <a:txBody>
                    <a:bodyPr/>
                    <a:lstStyle/>
                    <a:p>
                      <a:r>
                        <a:rPr sz="1200" b="0">
                          <a:solidFill>
                            <a:srgbClr val="1F1B3A"/>
                          </a:solidFill>
                          <a:latin typeface="Calibri"/>
                        </a:rPr>
                        <a:t>0.964</a:t>
                      </a:r>
                    </a:p>
                  </a:txBody>
                  <a:tcPr marL="73152" marR="73152" marT="27432" marB="27432" anchor="ctr">
                    <a:solidFill>
                      <a:srgbClr val="F4F4F7"/>
                    </a:solidFill>
                  </a:tcPr>
                </a:tc>
                <a:tc>
                  <a:txBody>
                    <a:bodyPr/>
                    <a:lstStyle/>
                    <a:p>
                      <a:r>
                        <a:rPr sz="1200" b="0">
                          <a:solidFill>
                            <a:srgbClr val="1F1B3A"/>
                          </a:solidFill>
                          <a:latin typeface="Calibri"/>
                        </a:rPr>
                        <a:t>yes</a:t>
                      </a:r>
                    </a:p>
                  </a:txBody>
                  <a:tcPr marL="73152" marR="73152" marT="27432" marB="27432" anchor="ctr">
                    <a:solidFill>
                      <a:srgbClr val="F4F4F7"/>
                    </a:solidFill>
                  </a:tcPr>
                </a:tc>
              </a:tr>
              <a:tr h="338328">
                <a:tc>
                  <a:txBody>
                    <a:bodyPr/>
                    <a:lstStyle/>
                    <a:p>
                      <a:r>
                        <a:rPr sz="1200" b="1">
                          <a:solidFill>
                            <a:srgbClr val="1F1B3A"/>
                          </a:solidFill>
                          <a:latin typeface="Calibri"/>
                        </a:rPr>
                        <a:t>User KNN - Cosine</a:t>
                      </a:r>
                    </a:p>
                  </a:txBody>
                  <a:tcPr marL="73152" marR="73152" marT="27432" marB="27432" anchor="ctr">
                    <a:solidFill>
                      <a:srgbClr val="EAF1FB"/>
                    </a:solidFill>
                  </a:tcPr>
                </a:tc>
                <a:tc>
                  <a:txBody>
                    <a:bodyPr/>
                    <a:lstStyle/>
                    <a:p>
                      <a:r>
                        <a:rPr sz="1200" b="1">
                          <a:solidFill>
                            <a:srgbClr val="1F1B3A"/>
                          </a:solidFill>
                          <a:latin typeface="Calibri"/>
                        </a:rPr>
                        <a:t>0.813</a:t>
                      </a:r>
                    </a:p>
                  </a:txBody>
                  <a:tcPr marL="73152" marR="73152" marT="27432" marB="27432" anchor="ctr">
                    <a:solidFill>
                      <a:srgbClr val="EAF1FB"/>
                    </a:solidFill>
                  </a:tcPr>
                </a:tc>
                <a:tc>
                  <a:txBody>
                    <a:bodyPr/>
                    <a:lstStyle/>
                    <a:p>
                      <a:r>
                        <a:rPr sz="1200" b="1">
                          <a:solidFill>
                            <a:srgbClr val="1F1B3A"/>
                          </a:solidFill>
                          <a:latin typeface="Calibri"/>
                        </a:rPr>
                        <a:t>0.813</a:t>
                      </a:r>
                    </a:p>
                  </a:txBody>
                  <a:tcPr marL="73152" marR="73152" marT="27432" marB="27432" anchor="ctr">
                    <a:solidFill>
                      <a:srgbClr val="EAF1FB"/>
                    </a:solidFill>
                  </a:tcPr>
                </a:tc>
                <a:tc>
                  <a:txBody>
                    <a:bodyPr/>
                    <a:lstStyle/>
                    <a:p>
                      <a:r>
                        <a:rPr sz="1200" b="1">
                          <a:solidFill>
                            <a:srgbClr val="1F1B3A"/>
                          </a:solidFill>
                          <a:latin typeface="Calibri"/>
                        </a:rPr>
                        <a:t>0.902</a:t>
                      </a:r>
                    </a:p>
                  </a:txBody>
                  <a:tcPr marL="73152" marR="73152" marT="27432" marB="27432" anchor="ctr">
                    <a:solidFill>
                      <a:srgbClr val="EAF1FB"/>
                    </a:solidFill>
                  </a:tcPr>
                </a:tc>
                <a:tc>
                  <a:txBody>
                    <a:bodyPr/>
                    <a:lstStyle/>
                    <a:p>
                      <a:r>
                        <a:rPr sz="1200" b="1">
                          <a:solidFill>
                            <a:srgbClr val="1F1B3A"/>
                          </a:solidFill>
                          <a:latin typeface="Calibri"/>
                        </a:rPr>
                        <a:t>NO</a:t>
                      </a:r>
                    </a:p>
                  </a:txBody>
                  <a:tcPr marL="73152" marR="73152" marT="27432" marB="27432" anchor="ctr">
                    <a:solidFill>
                      <a:srgbClr val="EAF1FB"/>
                    </a:solidFill>
                  </a:tcPr>
                </a:tc>
              </a:tr>
              <a:tr h="338328">
                <a:tc>
                  <a:txBody>
                    <a:bodyPr/>
                    <a:lstStyle/>
                    <a:p>
                      <a:r>
                        <a:rPr sz="1200" b="1">
                          <a:solidFill>
                            <a:srgbClr val="1F1B3A"/>
                          </a:solidFill>
                          <a:latin typeface="Calibri"/>
                        </a:rPr>
                        <a:t>Item KNN - Cosine</a:t>
                      </a:r>
                    </a:p>
                  </a:txBody>
                  <a:tcPr marL="73152" marR="73152" marT="27432" marB="27432" anchor="ctr">
                    <a:solidFill>
                      <a:srgbClr val="EAF1FB"/>
                    </a:solidFill>
                  </a:tcPr>
                </a:tc>
                <a:tc>
                  <a:txBody>
                    <a:bodyPr/>
                    <a:lstStyle/>
                    <a:p>
                      <a:r>
                        <a:rPr sz="1200" b="1">
                          <a:solidFill>
                            <a:srgbClr val="1F1B3A"/>
                          </a:solidFill>
                          <a:latin typeface="Calibri"/>
                        </a:rPr>
                        <a:t>0.854</a:t>
                      </a:r>
                    </a:p>
                  </a:txBody>
                  <a:tcPr marL="73152" marR="73152" marT="27432" marB="27432" anchor="ctr">
                    <a:solidFill>
                      <a:srgbClr val="EAF1FB"/>
                    </a:solidFill>
                  </a:tcPr>
                </a:tc>
                <a:tc>
                  <a:txBody>
                    <a:bodyPr/>
                    <a:lstStyle/>
                    <a:p>
                      <a:r>
                        <a:rPr sz="1200" b="1">
                          <a:solidFill>
                            <a:srgbClr val="1F1B3A"/>
                          </a:solidFill>
                          <a:latin typeface="Calibri"/>
                        </a:rPr>
                        <a:t>0.862</a:t>
                      </a:r>
                    </a:p>
                  </a:txBody>
                  <a:tcPr marL="73152" marR="73152" marT="27432" marB="27432" anchor="ctr">
                    <a:solidFill>
                      <a:srgbClr val="EAF1FB"/>
                    </a:solidFill>
                  </a:tcPr>
                </a:tc>
                <a:tc>
                  <a:txBody>
                    <a:bodyPr/>
                    <a:lstStyle/>
                    <a:p>
                      <a:r>
                        <a:rPr sz="1200" b="1">
                          <a:solidFill>
                            <a:srgbClr val="1F1B3A"/>
                          </a:solidFill>
                          <a:latin typeface="Calibri"/>
                        </a:rPr>
                        <a:t>0.924</a:t>
                      </a:r>
                    </a:p>
                  </a:txBody>
                  <a:tcPr marL="73152" marR="73152" marT="27432" marB="27432" anchor="ctr">
                    <a:solidFill>
                      <a:srgbClr val="EAF1FB"/>
                    </a:solidFill>
                  </a:tcPr>
                </a:tc>
                <a:tc>
                  <a:txBody>
                    <a:bodyPr/>
                    <a:lstStyle/>
                    <a:p>
                      <a:r>
                        <a:rPr sz="1200" b="1">
                          <a:solidFill>
                            <a:srgbClr val="1F1B3A"/>
                          </a:solidFill>
                          <a:latin typeface="Calibri"/>
                        </a:rPr>
                        <a:t>NO</a:t>
                      </a:r>
                    </a:p>
                  </a:txBody>
                  <a:tcPr marL="73152" marR="73152" marT="27432" marB="27432" anchor="ctr">
                    <a:solidFill>
                      <a:srgbClr val="EAF1FB"/>
                    </a:solidFill>
                  </a:tcPr>
                </a:tc>
              </a:tr>
              <a:tr h="338328">
                <a:tc>
                  <a:txBody>
                    <a:bodyPr/>
                    <a:lstStyle/>
                    <a:p>
                      <a:r>
                        <a:rPr sz="1200" b="0">
                          <a:solidFill>
                            <a:srgbClr val="1F1B3A"/>
                          </a:solidFill>
                          <a:latin typeface="Calibri"/>
                        </a:rPr>
                        <a:t>User KNN - Pearson</a:t>
                      </a:r>
                    </a:p>
                  </a:txBody>
                  <a:tcPr marL="73152" marR="73152" marT="27432" marB="27432" anchor="ctr">
                    <a:solidFill>
                      <a:srgbClr val="FFFFFF"/>
                    </a:solidFill>
                  </a:tcPr>
                </a:tc>
                <a:tc>
                  <a:txBody>
                    <a:bodyPr/>
                    <a:lstStyle/>
                    <a:p>
                      <a:r>
                        <a:rPr sz="1200" b="0">
                          <a:solidFill>
                            <a:srgbClr val="1F1B3A"/>
                          </a:solidFill>
                          <a:latin typeface="Calibri"/>
                        </a:rPr>
                        <a:t>0.814</a:t>
                      </a:r>
                    </a:p>
                  </a:txBody>
                  <a:tcPr marL="73152" marR="73152" marT="27432" marB="27432" anchor="ctr">
                    <a:solidFill>
                      <a:srgbClr val="FFFFFF"/>
                    </a:solidFill>
                  </a:tcPr>
                </a:tc>
                <a:tc>
                  <a:txBody>
                    <a:bodyPr/>
                    <a:lstStyle/>
                    <a:p>
                      <a:r>
                        <a:rPr sz="1200" b="0">
                          <a:solidFill>
                            <a:srgbClr val="1F1B3A"/>
                          </a:solidFill>
                          <a:latin typeface="Calibri"/>
                        </a:rPr>
                        <a:t>0.902</a:t>
                      </a:r>
                    </a:p>
                  </a:txBody>
                  <a:tcPr marL="73152" marR="73152" marT="27432" marB="27432" anchor="ctr">
                    <a:solidFill>
                      <a:srgbClr val="FFFFFF"/>
                    </a:solidFill>
                  </a:tcPr>
                </a:tc>
                <a:tc>
                  <a:txBody>
                    <a:bodyPr/>
                    <a:lstStyle/>
                    <a:p>
                      <a:r>
                        <a:rPr sz="1200" b="0">
                          <a:solidFill>
                            <a:srgbClr val="1F1B3A"/>
                          </a:solidFill>
                          <a:latin typeface="Calibri"/>
                        </a:rPr>
                        <a:t>0.902</a:t>
                      </a:r>
                    </a:p>
                  </a:txBody>
                  <a:tcPr marL="73152" marR="73152" marT="27432" marB="27432" anchor="ctr">
                    <a:solidFill>
                      <a:srgbClr val="FFFFFF"/>
                    </a:solidFill>
                  </a:tcPr>
                </a:tc>
                <a:tc>
                  <a:txBody>
                    <a:bodyPr/>
                    <a:lstStyle/>
                    <a:p>
                      <a:r>
                        <a:rPr sz="1200" b="0">
                          <a:solidFill>
                            <a:srgbClr val="1F1B3A"/>
                          </a:solidFill>
                          <a:latin typeface="Calibri"/>
                        </a:rPr>
                        <a:t>yes</a:t>
                      </a:r>
                    </a:p>
                  </a:txBody>
                  <a:tcPr marL="73152" marR="73152" marT="27432" marB="27432" anchor="ctr">
                    <a:solidFill>
                      <a:srgbClr val="FFFFFF"/>
                    </a:solidFill>
                  </a:tcPr>
                </a:tc>
              </a:tr>
              <a:tr h="338328">
                <a:tc>
                  <a:txBody>
                    <a:bodyPr/>
                    <a:lstStyle/>
                    <a:p>
                      <a:r>
                        <a:rPr sz="1200" b="0">
                          <a:solidFill>
                            <a:srgbClr val="1F1B3A"/>
                          </a:solidFill>
                          <a:latin typeface="Calibri"/>
                        </a:rPr>
                        <a:t>Item KNN - Pearson</a:t>
                      </a:r>
                    </a:p>
                  </a:txBody>
                  <a:tcPr marL="73152" marR="73152" marT="27432" marB="27432" anchor="ctr">
                    <a:solidFill>
                      <a:srgbClr val="F4F4F7"/>
                    </a:solidFill>
                  </a:tcPr>
                </a:tc>
                <a:tc>
                  <a:txBody>
                    <a:bodyPr/>
                    <a:lstStyle/>
                    <a:p>
                      <a:r>
                        <a:rPr sz="1200" b="0">
                          <a:solidFill>
                            <a:srgbClr val="1F1B3A"/>
                          </a:solidFill>
                          <a:latin typeface="Calibri"/>
                        </a:rPr>
                        <a:t>0.796</a:t>
                      </a:r>
                    </a:p>
                  </a:txBody>
                  <a:tcPr marL="73152" marR="73152" marT="27432" marB="27432" anchor="ctr">
                    <a:solidFill>
                      <a:srgbClr val="F4F4F7"/>
                    </a:solidFill>
                  </a:tcPr>
                </a:tc>
                <a:tc>
                  <a:txBody>
                    <a:bodyPr/>
                    <a:lstStyle/>
                    <a:p>
                      <a:r>
                        <a:rPr sz="1200" b="0">
                          <a:solidFill>
                            <a:srgbClr val="1F1B3A"/>
                          </a:solidFill>
                          <a:latin typeface="Calibri"/>
                        </a:rPr>
                        <a:t>0.892</a:t>
                      </a:r>
                    </a:p>
                  </a:txBody>
                  <a:tcPr marL="73152" marR="73152" marT="27432" marB="27432" anchor="ctr">
                    <a:solidFill>
                      <a:srgbClr val="F4F4F7"/>
                    </a:solidFill>
                  </a:tcPr>
                </a:tc>
                <a:tc>
                  <a:txBody>
                    <a:bodyPr/>
                    <a:lstStyle/>
                    <a:p>
                      <a:r>
                        <a:rPr sz="1200" b="0">
                          <a:solidFill>
                            <a:srgbClr val="1F1B3A"/>
                          </a:solidFill>
                          <a:latin typeface="Calibri"/>
                        </a:rPr>
                        <a:t>0.892</a:t>
                      </a:r>
                    </a:p>
                  </a:txBody>
                  <a:tcPr marL="73152" marR="73152" marT="27432" marB="27432" anchor="ctr">
                    <a:solidFill>
                      <a:srgbClr val="F4F4F7"/>
                    </a:solidFill>
                  </a:tcPr>
                </a:tc>
                <a:tc>
                  <a:txBody>
                    <a:bodyPr/>
                    <a:lstStyle/>
                    <a:p>
                      <a:r>
                        <a:rPr sz="1200" b="0">
                          <a:solidFill>
                            <a:srgbClr val="1F1B3A"/>
                          </a:solidFill>
                          <a:latin typeface="Calibri"/>
                        </a:rPr>
                        <a:t>yes</a:t>
                      </a:r>
                    </a:p>
                  </a:txBody>
                  <a:tcPr marL="73152" marR="73152" marT="27432" marB="27432" anchor="ctr">
                    <a:solidFill>
                      <a:srgbClr val="F4F4F7"/>
                    </a:solidFill>
                  </a:tcPr>
                </a:tc>
              </a:tr>
              <a:tr h="338328">
                <a:tc>
                  <a:txBody>
                    <a:bodyPr/>
                    <a:lstStyle/>
                    <a:p>
                      <a:r>
                        <a:rPr sz="1200" b="0">
                          <a:solidFill>
                            <a:srgbClr val="1F1B3A"/>
                          </a:solidFill>
                          <a:latin typeface="Calibri"/>
                        </a:rPr>
                        <a:t>SVD</a:t>
                      </a:r>
                    </a:p>
                  </a:txBody>
                  <a:tcPr marL="73152" marR="73152" marT="27432" marB="27432" anchor="ctr">
                    <a:solidFill>
                      <a:srgbClr val="FFFFFF"/>
                    </a:solidFill>
                  </a:tcPr>
                </a:tc>
                <a:tc>
                  <a:txBody>
                    <a:bodyPr/>
                    <a:lstStyle/>
                    <a:p>
                      <a:r>
                        <a:rPr sz="1200" b="0">
                          <a:solidFill>
                            <a:srgbClr val="1F1B3A"/>
                          </a:solidFill>
                          <a:latin typeface="Calibri"/>
                        </a:rPr>
                        <a:t>0.879</a:t>
                      </a:r>
                    </a:p>
                  </a:txBody>
                  <a:tcPr marL="73152" marR="73152" marT="27432" marB="27432" anchor="ctr">
                    <a:solidFill>
                      <a:srgbClr val="FFFFFF"/>
                    </a:solidFill>
                  </a:tcPr>
                </a:tc>
                <a:tc>
                  <a:txBody>
                    <a:bodyPr/>
                    <a:lstStyle/>
                    <a:p>
                      <a:r>
                        <a:rPr sz="1200" b="0">
                          <a:solidFill>
                            <a:srgbClr val="1F1B3A"/>
                          </a:solidFill>
                          <a:latin typeface="Calibri"/>
                        </a:rPr>
                        <a:t>0.937</a:t>
                      </a:r>
                    </a:p>
                  </a:txBody>
                  <a:tcPr marL="73152" marR="73152" marT="27432" marB="27432" anchor="ctr">
                    <a:solidFill>
                      <a:srgbClr val="FFFFFF"/>
                    </a:solidFill>
                  </a:tcPr>
                </a:tc>
                <a:tc>
                  <a:txBody>
                    <a:bodyPr/>
                    <a:lstStyle/>
                    <a:p>
                      <a:r>
                        <a:rPr sz="1200" b="0">
                          <a:solidFill>
                            <a:srgbClr val="1F1B3A"/>
                          </a:solidFill>
                          <a:latin typeface="Calibri"/>
                        </a:rPr>
                        <a:t>0.938</a:t>
                      </a:r>
                    </a:p>
                  </a:txBody>
                  <a:tcPr marL="73152" marR="73152" marT="27432" marB="27432" anchor="ctr">
                    <a:solidFill>
                      <a:srgbClr val="FFFFFF"/>
                    </a:solidFill>
                  </a:tcPr>
                </a:tc>
                <a:tc>
                  <a:txBody>
                    <a:bodyPr/>
                    <a:lstStyle/>
                    <a:p>
                      <a:r>
                        <a:rPr sz="1200" b="0">
                          <a:solidFill>
                            <a:srgbClr val="1F1B3A"/>
                          </a:solidFill>
                          <a:latin typeface="Calibri"/>
                        </a:rPr>
                        <a:t>yes</a:t>
                      </a:r>
                    </a:p>
                  </a:txBody>
                  <a:tcPr marL="73152" marR="73152" marT="27432" marB="27432" anchor="ctr">
                    <a:solidFill>
                      <a:srgbClr val="FFFFFF"/>
                    </a:solidFill>
                  </a:tcPr>
                </a:tc>
              </a:tr>
              <a:tr h="338328">
                <a:tc>
                  <a:txBody>
                    <a:bodyPr/>
                    <a:lstStyle/>
                    <a:p>
                      <a:r>
                        <a:rPr sz="1200" b="0">
                          <a:solidFill>
                            <a:srgbClr val="1F1B3A"/>
                          </a:solidFill>
                          <a:latin typeface="Calibri"/>
                        </a:rPr>
                        <a:t>Biased MF</a:t>
                      </a:r>
                    </a:p>
                  </a:txBody>
                  <a:tcPr marL="73152" marR="73152" marT="27432" marB="27432" anchor="ctr">
                    <a:solidFill>
                      <a:srgbClr val="F4F4F7"/>
                    </a:solidFill>
                  </a:tcPr>
                </a:tc>
                <a:tc>
                  <a:txBody>
                    <a:bodyPr/>
                    <a:lstStyle/>
                    <a:p>
                      <a:r>
                        <a:rPr sz="1200" b="0">
                          <a:solidFill>
                            <a:srgbClr val="1F1B3A"/>
                          </a:solidFill>
                          <a:latin typeface="Calibri"/>
                        </a:rPr>
                        <a:t>0.768</a:t>
                      </a:r>
                    </a:p>
                  </a:txBody>
                  <a:tcPr marL="73152" marR="73152" marT="27432" marB="27432" anchor="ctr">
                    <a:solidFill>
                      <a:srgbClr val="F4F4F7"/>
                    </a:solidFill>
                  </a:tcPr>
                </a:tc>
                <a:tc>
                  <a:txBody>
                    <a:bodyPr/>
                    <a:lstStyle/>
                    <a:p>
                      <a:r>
                        <a:rPr sz="1200" b="0">
                          <a:solidFill>
                            <a:srgbClr val="1F1B3A"/>
                          </a:solidFill>
                          <a:latin typeface="Calibri"/>
                        </a:rPr>
                        <a:t>0.877</a:t>
                      </a:r>
                    </a:p>
                  </a:txBody>
                  <a:tcPr marL="73152" marR="73152" marT="27432" marB="27432" anchor="ctr">
                    <a:solidFill>
                      <a:srgbClr val="F4F4F7"/>
                    </a:solidFill>
                  </a:tcPr>
                </a:tc>
                <a:tc>
                  <a:txBody>
                    <a:bodyPr/>
                    <a:lstStyle/>
                    <a:p>
                      <a:r>
                        <a:rPr sz="1200" b="0">
                          <a:solidFill>
                            <a:srgbClr val="1F1B3A"/>
                          </a:solidFill>
                          <a:latin typeface="Calibri"/>
                        </a:rPr>
                        <a:t>0.876</a:t>
                      </a:r>
                    </a:p>
                  </a:txBody>
                  <a:tcPr marL="73152" marR="73152" marT="27432" marB="27432" anchor="ctr">
                    <a:solidFill>
                      <a:srgbClr val="F4F4F7"/>
                    </a:solidFill>
                  </a:tcPr>
                </a:tc>
                <a:tc>
                  <a:txBody>
                    <a:bodyPr/>
                    <a:lstStyle/>
                    <a:p>
                      <a:r>
                        <a:rPr sz="1200" b="0">
                          <a:solidFill>
                            <a:srgbClr val="1F1B3A"/>
                          </a:solidFill>
                          <a:latin typeface="Calibri"/>
                        </a:rPr>
                        <a:t>yes</a:t>
                      </a:r>
                    </a:p>
                  </a:txBody>
                  <a:tcPr marL="73152" marR="73152" marT="27432" marB="27432" anchor="ctr">
                    <a:solidFill>
                      <a:srgbClr val="F4F4F7"/>
                    </a:solidFill>
                  </a:tcPr>
                </a:tc>
              </a:tr>
              <a:tr h="338328">
                <a:tc>
                  <a:txBody>
                    <a:bodyPr/>
                    <a:lstStyle/>
                    <a:p>
                      <a:r>
                        <a:rPr sz="1200" b="0">
                          <a:solidFill>
                            <a:srgbClr val="1F1B3A"/>
                          </a:solidFill>
                          <a:latin typeface="Calibri"/>
                        </a:rPr>
                        <a:t>SVD++</a:t>
                      </a:r>
                    </a:p>
                  </a:txBody>
                  <a:tcPr marL="73152" marR="73152" marT="27432" marB="27432" anchor="ctr">
                    <a:solidFill>
                      <a:srgbClr val="FFFFFF"/>
                    </a:solidFill>
                  </a:tcPr>
                </a:tc>
                <a:tc>
                  <a:txBody>
                    <a:bodyPr/>
                    <a:lstStyle/>
                    <a:p>
                      <a:r>
                        <a:rPr sz="1200" b="0">
                          <a:solidFill>
                            <a:srgbClr val="1F1B3A"/>
                          </a:solidFill>
                          <a:latin typeface="Calibri"/>
                        </a:rPr>
                        <a:t>0.756</a:t>
                      </a:r>
                    </a:p>
                  </a:txBody>
                  <a:tcPr marL="73152" marR="73152" marT="27432" marB="27432" anchor="ctr">
                    <a:solidFill>
                      <a:srgbClr val="FFFFFF"/>
                    </a:solidFill>
                  </a:tcPr>
                </a:tc>
                <a:tc>
                  <a:txBody>
                    <a:bodyPr/>
                    <a:lstStyle/>
                    <a:p>
                      <a:r>
                        <a:rPr sz="1200" b="0">
                          <a:solidFill>
                            <a:srgbClr val="1F1B3A"/>
                          </a:solidFill>
                          <a:latin typeface="Calibri"/>
                        </a:rPr>
                        <a:t>0.869</a:t>
                      </a:r>
                    </a:p>
                  </a:txBody>
                  <a:tcPr marL="73152" marR="73152" marT="27432" marB="27432" anchor="ctr">
                    <a:solidFill>
                      <a:srgbClr val="FFFFFF"/>
                    </a:solidFill>
                  </a:tcPr>
                </a:tc>
                <a:tc>
                  <a:txBody>
                    <a:bodyPr/>
                    <a:lstStyle/>
                    <a:p>
                      <a:r>
                        <a:rPr sz="1200" b="0">
                          <a:solidFill>
                            <a:srgbClr val="1F1B3A"/>
                          </a:solidFill>
                          <a:latin typeface="Calibri"/>
                        </a:rPr>
                        <a:t>0.869</a:t>
                      </a:r>
                    </a:p>
                  </a:txBody>
                  <a:tcPr marL="73152" marR="73152" marT="27432" marB="27432" anchor="ctr">
                    <a:solidFill>
                      <a:srgbClr val="FFFFFF"/>
                    </a:solidFill>
                  </a:tcPr>
                </a:tc>
                <a:tc>
                  <a:txBody>
                    <a:bodyPr/>
                    <a:lstStyle/>
                    <a:p>
                      <a:r>
                        <a:rPr sz="1200" b="0">
                          <a:solidFill>
                            <a:srgbClr val="1F1B3A"/>
                          </a:solidFill>
                          <a:latin typeface="Calibri"/>
                        </a:rPr>
                        <a:t>yes</a:t>
                      </a:r>
                    </a:p>
                  </a:txBody>
                  <a:tcPr marL="73152" marR="73152" marT="27432" marB="27432" anchor="ctr">
                    <a:solidFill>
                      <a:srgbClr val="FFFFFF"/>
                    </a:solidFill>
                  </a:tcPr>
                </a:tc>
              </a:tr>
              <a:tr h="338328">
                <a:tc>
                  <a:txBody>
                    <a:bodyPr/>
                    <a:lstStyle/>
                    <a:p>
                      <a:r>
                        <a:rPr sz="1200" b="0">
                          <a:solidFill>
                            <a:srgbClr val="1F1B3A"/>
                          </a:solidFill>
                          <a:latin typeface="Calibri"/>
                        </a:rPr>
                        <a:t>DNNRec</a:t>
                      </a:r>
                    </a:p>
                  </a:txBody>
                  <a:tcPr marL="73152" marR="73152" marT="27432" marB="27432" anchor="ctr">
                    <a:solidFill>
                      <a:srgbClr val="F4F4F7"/>
                    </a:solidFill>
                  </a:tcPr>
                </a:tc>
                <a:tc>
                  <a:txBody>
                    <a:bodyPr/>
                    <a:lstStyle/>
                    <a:p>
                      <a:r>
                        <a:rPr sz="1200" b="0">
                          <a:solidFill>
                            <a:srgbClr val="1F1B3A"/>
                          </a:solidFill>
                          <a:latin typeface="Calibri"/>
                        </a:rPr>
                        <a:t>0.747</a:t>
                      </a:r>
                    </a:p>
                  </a:txBody>
                  <a:tcPr marL="73152" marR="73152" marT="27432" marB="27432" anchor="ctr">
                    <a:solidFill>
                      <a:srgbClr val="F4F4F7"/>
                    </a:solidFill>
                  </a:tcPr>
                </a:tc>
                <a:tc>
                  <a:txBody>
                    <a:bodyPr/>
                    <a:lstStyle/>
                    <a:p>
                      <a:r>
                        <a:rPr sz="1200" b="0">
                          <a:solidFill>
                            <a:srgbClr val="1F1B3A"/>
                          </a:solidFill>
                          <a:latin typeface="Calibri"/>
                        </a:rPr>
                        <a:t>0.864</a:t>
                      </a:r>
                    </a:p>
                  </a:txBody>
                  <a:tcPr marL="73152" marR="73152" marT="27432" marB="27432" anchor="ctr">
                    <a:solidFill>
                      <a:srgbClr val="F4F4F7"/>
                    </a:solidFill>
                  </a:tcPr>
                </a:tc>
                <a:tc>
                  <a:txBody>
                    <a:bodyPr/>
                    <a:lstStyle/>
                    <a:p>
                      <a:r>
                        <a:rPr sz="1200" b="0">
                          <a:solidFill>
                            <a:srgbClr val="1F1B3A"/>
                          </a:solidFill>
                          <a:latin typeface="Calibri"/>
                        </a:rPr>
                        <a:t>0.864</a:t>
                      </a:r>
                    </a:p>
                  </a:txBody>
                  <a:tcPr marL="73152" marR="73152" marT="27432" marB="27432" anchor="ctr">
                    <a:solidFill>
                      <a:srgbClr val="F4F4F7"/>
                    </a:solidFill>
                  </a:tcPr>
                </a:tc>
                <a:tc>
                  <a:txBody>
                    <a:bodyPr/>
                    <a:lstStyle/>
                    <a:p>
                      <a:r>
                        <a:rPr sz="1200" b="0">
                          <a:solidFill>
                            <a:srgbClr val="1F1B3A"/>
                          </a:solidFill>
                          <a:latin typeface="Calibri"/>
                        </a:rPr>
                        <a:t>yes</a:t>
                      </a:r>
                    </a:p>
                  </a:txBody>
                  <a:tcPr marL="73152" marR="73152" marT="27432" marB="27432" anchor="ctr">
                    <a:solidFill>
                      <a:srgbClr val="F4F4F7"/>
                    </a:solidFill>
                  </a:tcPr>
                </a:tc>
              </a:tr>
              <a:tr h="338328">
                <a:tc>
                  <a:txBody>
                    <a:bodyPr/>
                    <a:lstStyle/>
                    <a:p>
                      <a:r>
                        <a:rPr sz="1200" b="0">
                          <a:solidFill>
                            <a:srgbClr val="1F1B3A"/>
                          </a:solidFill>
                          <a:latin typeface="Calibri"/>
                        </a:rPr>
                        <a:t>UBP</a:t>
                      </a:r>
                    </a:p>
                  </a:txBody>
                  <a:tcPr marL="73152" marR="73152" marT="27432" marB="27432" anchor="ctr">
                    <a:solidFill>
                      <a:srgbClr val="FFFFFF"/>
                    </a:solidFill>
                  </a:tcPr>
                </a:tc>
                <a:tc>
                  <a:txBody>
                    <a:bodyPr/>
                    <a:lstStyle/>
                    <a:p>
                      <a:r>
                        <a:rPr sz="1200" b="0">
                          <a:solidFill>
                            <a:srgbClr val="1F1B3A"/>
                          </a:solidFill>
                          <a:latin typeface="Calibri"/>
                        </a:rPr>
                        <a:t>0.724</a:t>
                      </a:r>
                    </a:p>
                  </a:txBody>
                  <a:tcPr marL="73152" marR="73152" marT="27432" marB="27432" anchor="ctr">
                    <a:solidFill>
                      <a:srgbClr val="FFFFFF"/>
                    </a:solidFill>
                  </a:tcPr>
                </a:tc>
                <a:tc>
                  <a:txBody>
                    <a:bodyPr/>
                    <a:lstStyle/>
                    <a:p>
                      <a:r>
                        <a:rPr sz="1200" b="0">
                          <a:solidFill>
                            <a:srgbClr val="1F1B3A"/>
                          </a:solidFill>
                          <a:latin typeface="Calibri"/>
                        </a:rPr>
                        <a:t>0.851</a:t>
                      </a:r>
                    </a:p>
                  </a:txBody>
                  <a:tcPr marL="73152" marR="73152" marT="27432" marB="27432" anchor="ctr">
                    <a:solidFill>
                      <a:srgbClr val="FFFFFF"/>
                    </a:solidFill>
                  </a:tcPr>
                </a:tc>
                <a:tc>
                  <a:txBody>
                    <a:bodyPr/>
                    <a:lstStyle/>
                    <a:p>
                      <a:r>
                        <a:rPr sz="1200" b="0">
                          <a:solidFill>
                            <a:srgbClr val="1F1B3A"/>
                          </a:solidFill>
                          <a:latin typeface="Calibri"/>
                        </a:rPr>
                        <a:t>0.851</a:t>
                      </a:r>
                    </a:p>
                  </a:txBody>
                  <a:tcPr marL="73152" marR="73152" marT="27432" marB="27432" anchor="ctr">
                    <a:solidFill>
                      <a:srgbClr val="FFFFFF"/>
                    </a:solidFill>
                  </a:tcPr>
                </a:tc>
                <a:tc>
                  <a:txBody>
                    <a:bodyPr/>
                    <a:lstStyle/>
                    <a:p>
                      <a:r>
                        <a:rPr sz="1200" b="0">
                          <a:solidFill>
                            <a:srgbClr val="1F1B3A"/>
                          </a:solidFill>
                          <a:latin typeface="Calibri"/>
                        </a:rPr>
                        <a:t>yes</a:t>
                      </a:r>
                    </a:p>
                  </a:txBody>
                  <a:tcPr marL="73152" marR="73152" marT="27432" marB="27432" anchor="ctr">
                    <a:solidFill>
                      <a:srgbClr val="FFFFFF"/>
                    </a:solidFill>
                  </a:tcPr>
                </a:tc>
              </a:tr>
              <a:tr h="338328">
                <a:tc>
                  <a:txBody>
                    <a:bodyPr/>
                    <a:lstStyle/>
                    <a:p>
                      <a:r>
                        <a:rPr sz="1200" b="0">
                          <a:solidFill>
                            <a:srgbClr val="1F1B3A"/>
                          </a:solidFill>
                          <a:latin typeface="Calibri"/>
                        </a:rPr>
                        <a:t>PDMF-post 50D</a:t>
                      </a:r>
                    </a:p>
                  </a:txBody>
                  <a:tcPr marL="73152" marR="73152" marT="27432" marB="27432" anchor="ctr">
                    <a:solidFill>
                      <a:srgbClr val="F4F4F7"/>
                    </a:solidFill>
                  </a:tcPr>
                </a:tc>
                <a:tc>
                  <a:txBody>
                    <a:bodyPr/>
                    <a:lstStyle/>
                    <a:p>
                      <a:r>
                        <a:rPr sz="1200" b="0">
                          <a:solidFill>
                            <a:srgbClr val="1F1B3A"/>
                          </a:solidFill>
                          <a:latin typeface="Calibri"/>
                        </a:rPr>
                        <a:t>0.427</a:t>
                      </a:r>
                    </a:p>
                  </a:txBody>
                  <a:tcPr marL="73152" marR="73152" marT="27432" marB="27432" anchor="ctr">
                    <a:solidFill>
                      <a:srgbClr val="F4F4F7"/>
                    </a:solidFill>
                  </a:tcPr>
                </a:tc>
                <a:tc>
                  <a:txBody>
                    <a:bodyPr/>
                    <a:lstStyle/>
                    <a:p>
                      <a:r>
                        <a:rPr sz="1200" b="0">
                          <a:solidFill>
                            <a:srgbClr val="1F1B3A"/>
                          </a:solidFill>
                          <a:latin typeface="Calibri"/>
                        </a:rPr>
                        <a:t>0.654</a:t>
                      </a:r>
                    </a:p>
                  </a:txBody>
                  <a:tcPr marL="73152" marR="73152" marT="27432" marB="27432" anchor="ctr">
                    <a:solidFill>
                      <a:srgbClr val="F4F4F7"/>
                    </a:solidFill>
                  </a:tcPr>
                </a:tc>
                <a:tc>
                  <a:txBody>
                    <a:bodyPr/>
                    <a:lstStyle/>
                    <a:p>
                      <a:r>
                        <a:rPr sz="1200" b="0">
                          <a:solidFill>
                            <a:srgbClr val="1F1B3A"/>
                          </a:solidFill>
                          <a:latin typeface="Calibri"/>
                        </a:rPr>
                        <a:t>0.653</a:t>
                      </a:r>
                    </a:p>
                  </a:txBody>
                  <a:tcPr marL="73152" marR="73152" marT="27432" marB="27432" anchor="ctr">
                    <a:solidFill>
                      <a:srgbClr val="F4F4F7"/>
                    </a:solidFill>
                  </a:tcPr>
                </a:tc>
                <a:tc>
                  <a:txBody>
                    <a:bodyPr/>
                    <a:lstStyle/>
                    <a:p>
                      <a:r>
                        <a:rPr sz="1200" b="0">
                          <a:solidFill>
                            <a:srgbClr val="1F1B3A"/>
                          </a:solidFill>
                          <a:latin typeface="Calibri"/>
                        </a:rPr>
                        <a:t>yes</a:t>
                      </a:r>
                    </a:p>
                  </a:txBody>
                  <a:tcPr marL="73152" marR="73152" marT="27432" marB="27432" anchor="ctr">
                    <a:solidFill>
                      <a:srgbClr val="F4F4F7"/>
                    </a:solidFill>
                  </a:tcPr>
                </a:tc>
              </a:tr>
              <a:tr h="338328">
                <a:tc>
                  <a:txBody>
                    <a:bodyPr/>
                    <a:lstStyle/>
                    <a:p>
                      <a:r>
                        <a:rPr sz="1200" b="1">
                          <a:solidFill>
                            <a:srgbClr val="1F1B3A"/>
                          </a:solidFill>
                          <a:latin typeface="Calibri"/>
                        </a:rPr>
                        <a:t>Proposed Model: RikoNet</a:t>
                      </a:r>
                    </a:p>
                  </a:txBody>
                  <a:tcPr marL="73152" marR="73152" marT="27432" marB="27432" anchor="ctr">
                    <a:solidFill>
                      <a:srgbClr val="EAF1FB"/>
                    </a:solidFill>
                  </a:tcPr>
                </a:tc>
                <a:tc>
                  <a:txBody>
                    <a:bodyPr/>
                    <a:lstStyle/>
                    <a:p>
                      <a:r>
                        <a:rPr sz="1200" b="1">
                          <a:solidFill>
                            <a:srgbClr val="1F1B3A"/>
                          </a:solidFill>
                          <a:latin typeface="Calibri"/>
                        </a:rPr>
                        <a:t>0.349</a:t>
                      </a:r>
                    </a:p>
                  </a:txBody>
                  <a:tcPr marL="73152" marR="73152" marT="27432" marB="27432" anchor="ctr">
                    <a:solidFill>
                      <a:srgbClr val="EAF1FB"/>
                    </a:solidFill>
                  </a:tcPr>
                </a:tc>
                <a:tc>
                  <a:txBody>
                    <a:bodyPr/>
                    <a:lstStyle/>
                    <a:p>
                      <a:r>
                        <a:rPr sz="1200" b="1">
                          <a:solidFill>
                            <a:srgbClr val="1F1B3A"/>
                          </a:solidFill>
                          <a:latin typeface="Calibri"/>
                        </a:rPr>
                        <a:t>0.591</a:t>
                      </a:r>
                    </a:p>
                  </a:txBody>
                  <a:tcPr marL="73152" marR="73152" marT="27432" marB="27432" anchor="ctr">
                    <a:solidFill>
                      <a:srgbClr val="EAF1FB"/>
                    </a:solidFill>
                  </a:tcPr>
                </a:tc>
                <a:tc>
                  <a:txBody>
                    <a:bodyPr/>
                    <a:lstStyle/>
                    <a:p>
                      <a:r>
                        <a:rPr sz="1200" b="1">
                          <a:solidFill>
                            <a:srgbClr val="1F1B3A"/>
                          </a:solidFill>
                          <a:latin typeface="Calibri"/>
                        </a:rPr>
                        <a:t>0.591</a:t>
                      </a:r>
                    </a:p>
                  </a:txBody>
                  <a:tcPr marL="73152" marR="73152" marT="27432" marB="27432" anchor="ctr">
                    <a:solidFill>
                      <a:srgbClr val="EAF1FB"/>
                    </a:solidFill>
                  </a:tcPr>
                </a:tc>
                <a:tc>
                  <a:txBody>
                    <a:bodyPr/>
                    <a:lstStyle/>
                    <a:p>
                      <a:r>
                        <a:rPr sz="1200" b="1">
                          <a:solidFill>
                            <a:srgbClr val="1F1B3A"/>
                          </a:solidFill>
                          <a:latin typeface="Calibri"/>
                        </a:rPr>
                        <a:t>yes</a:t>
                      </a:r>
                    </a:p>
                  </a:txBody>
                  <a:tcPr marL="73152" marR="73152" marT="27432" marB="27432" anchor="ctr">
                    <a:solidFill>
                      <a:srgbClr val="EAF1FB"/>
                    </a:solidFill>
                  </a:tcPr>
                </a:tc>
              </a:tr>
            </a:tbl>
          </a:graphicData>
        </a:graphic>
      </p:graphicFrame>
      <p:sp>
        <p:nvSpPr>
          <p:cNvPr id="6" name="TextBox 5"/>
          <p:cNvSpPr txBox="1"/>
          <p:nvPr/>
        </p:nvSpPr>
        <p:spPr>
          <a:xfrm>
            <a:off x="6949440" y="1463040"/>
            <a:ext cx="4754880" cy="4754880"/>
          </a:xfrm>
          <a:prstGeom prst="rect">
            <a:avLst/>
          </a:prstGeom>
          <a:noFill/>
        </p:spPr>
        <p:txBody>
          <a:bodyPr wrap="square">
            <a:spAutoFit/>
          </a:bodyPr>
          <a:lstStyle/>
          <a:p>
            <a:pPr marL="256032" indent="-256032">
              <a:spcAft>
                <a:spcPts val="800"/>
              </a:spcAft>
              <a:buChar char="•"/>
            </a:pPr>
            <a:r>
              <a:rPr b="1" sz="1600">
                <a:solidFill>
                  <a:srgbClr val="1F1B3A"/>
                </a:solidFill>
                <a:latin typeface="Calibri"/>
              </a:rPr>
              <a:t>Inconsistent rows: </a:t>
            </a:r>
            <a:r>
              <a:rPr sz="1600">
                <a:solidFill>
                  <a:srgbClr val="1F1B3A"/>
                </a:solidFill>
                <a:latin typeface="Calibri"/>
              </a:rPr>
              <a:t>for User/Item KNN-Cosine, RMSE is not √MSE.</a:t>
            </a:r>
          </a:p>
          <a:p>
            <a:pPr marL="256032" indent="-256032">
              <a:spcAft>
                <a:spcPts val="800"/>
              </a:spcAft>
              <a:buChar char="•"/>
            </a:pPr>
            <a:r>
              <a:rPr b="1" sz="1600">
                <a:solidFill>
                  <a:srgbClr val="1F1B3A"/>
                </a:solidFill>
                <a:latin typeface="Calibri"/>
              </a:rPr>
              <a:t>Borrowed numbers: </a:t>
            </a:r>
            <a:r>
              <a:rPr sz="1600">
                <a:solidFill>
                  <a:srgbClr val="1F1B3A"/>
                </a:solidFill>
                <a:latin typeface="Calibri"/>
              </a:rPr>
              <a:t>competitors were copied from another paper, so they were not run on the 5 % protocol.</a:t>
            </a:r>
          </a:p>
          <a:p>
            <a:pPr marL="256032" indent="-256032">
              <a:spcAft>
                <a:spcPts val="800"/>
              </a:spcAft>
              <a:buChar char="•"/>
            </a:pPr>
            <a:r>
              <a:rPr b="1" sz="1600">
                <a:solidFill>
                  <a:srgbClr val="1F1B3A"/>
                </a:solidFill>
                <a:latin typeface="Calibri"/>
              </a:rPr>
              <a:t>Missing details: </a:t>
            </a:r>
            <a:r>
              <a:rPr sz="1600">
                <a:solidFill>
                  <a:srgbClr val="1F1B3A"/>
                </a:solidFill>
                <a:latin typeface="Calibri"/>
              </a:rPr>
              <a:t>layer sizes, epochs, optimiser, d and t are not reported.</a:t>
            </a:r>
          </a:p>
          <a:p>
            <a:pPr marL="256032" indent="-256032">
              <a:spcAft>
                <a:spcPts val="800"/>
              </a:spcAft>
              <a:buChar char="•"/>
            </a:pPr>
            <a:r>
              <a:rPr b="1" sz="1600">
                <a:solidFill>
                  <a:srgbClr val="1F1B3A"/>
                </a:solidFill>
                <a:latin typeface="Calibri"/>
              </a:rPr>
              <a:t>Our check: </a:t>
            </a:r>
            <a:r>
              <a:rPr sz="1600">
                <a:solidFill>
                  <a:srgbClr val="1F1B3A"/>
                </a:solidFill>
                <a:latin typeface="Calibri"/>
              </a:rPr>
              <a:t>re-training every baseline on one split gives a like-for-like comparison.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10</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Result 2: which activation works best?</a:t>
            </a:r>
          </a:p>
        </p:txBody>
      </p:sp>
      <p:sp>
        <p:nvSpPr>
          <p:cNvPr id="5" name="TextBox 4"/>
          <p:cNvSpPr txBox="1"/>
          <p:nvPr/>
        </p:nvSpPr>
        <p:spPr>
          <a:xfrm>
            <a:off x="548640" y="1024128"/>
            <a:ext cx="11094415" cy="411480"/>
          </a:xfrm>
          <a:prstGeom prst="rect">
            <a:avLst/>
          </a:prstGeom>
          <a:noFill/>
        </p:spPr>
        <p:txBody>
          <a:bodyPr wrap="square" anchor="t" lIns="45720" rIns="45720">
            <a:spAutoFit/>
          </a:bodyPr>
          <a:lstStyle/>
          <a:p>
            <a:pPr algn="l"/>
            <a:r>
              <a:rPr sz="1500" b="0" i="1">
                <a:solidFill>
                  <a:srgbClr val="6B6880"/>
                </a:solidFill>
                <a:latin typeface="Calibri"/>
              </a:rPr>
              <a:t>Paper Fig. 3 replicated on MovieLens-100K</a:t>
            </a:r>
          </a:p>
        </p:txBody>
      </p:sp>
      <p:pic>
        <p:nvPicPr>
          <p:cNvPr id="6" name="Picture 5" descr="activation_study_movielens.png"/>
          <p:cNvPicPr>
            <a:picLocks noChangeAspect="1"/>
          </p:cNvPicPr>
          <p:nvPr/>
        </p:nvPicPr>
        <p:blipFill>
          <a:blip r:embed="rId2"/>
          <a:stretch>
            <a:fillRect/>
          </a:stretch>
        </p:blipFill>
        <p:spPr>
          <a:xfrm>
            <a:off x="457200" y="1554480"/>
            <a:ext cx="7589520" cy="3415284"/>
          </a:xfrm>
          <a:prstGeom prst="rect">
            <a:avLst/>
          </a:prstGeom>
        </p:spPr>
      </p:pic>
      <p:graphicFrame>
        <p:nvGraphicFramePr>
          <p:cNvPr id="7" name="Table 6"/>
          <p:cNvGraphicFramePr>
            <a:graphicFrameLocks noGrp="1"/>
          </p:cNvGraphicFramePr>
          <p:nvPr/>
        </p:nvGraphicFramePr>
        <p:xfrm>
          <a:off x="8321040" y="1645920"/>
          <a:ext cx="3383280" cy="2057400"/>
        </p:xfrm>
        <a:graphic>
          <a:graphicData uri="http://schemas.openxmlformats.org/drawingml/2006/table">
            <a:tbl>
              <a:tblPr firstRow="1" bandRow="1">
                <a:tableStyleId>{5C22544A-7EE6-4342-B048-85BDC9FD1C3A}</a:tableStyleId>
              </a:tblPr>
              <a:tblGrid>
                <a:gridCol w="1554480"/>
                <a:gridCol w="1828800"/>
              </a:tblGrid>
              <a:tr h="411480">
                <a:tc>
                  <a:txBody>
                    <a:bodyPr/>
                    <a:lstStyle/>
                    <a:p>
                      <a:r>
                        <a:rPr sz="1400" b="1">
                          <a:solidFill>
                            <a:srgbClr val="FFFFFF"/>
                          </a:solidFill>
                          <a:latin typeface="Calibri"/>
                        </a:rPr>
                        <a:t>Activation</a:t>
                      </a:r>
                    </a:p>
                  </a:txBody>
                  <a:tcPr marL="73152" marR="73152" marT="27432" marB="27432" anchor="ctr">
                    <a:solidFill>
                      <a:srgbClr val="1F1B3A"/>
                    </a:solidFill>
                  </a:tcPr>
                </a:tc>
                <a:tc>
                  <a:txBody>
                    <a:bodyPr/>
                    <a:lstStyle/>
                    <a:p>
                      <a:r>
                        <a:rPr sz="1400" b="1">
                          <a:solidFill>
                            <a:srgbClr val="FFFFFF"/>
                          </a:solidFill>
                          <a:latin typeface="Calibri"/>
                        </a:rPr>
                        <a:t>Best val MSE</a:t>
                      </a:r>
                    </a:p>
                  </a:txBody>
                  <a:tcPr marL="73152" marR="73152" marT="27432" marB="27432" anchor="ctr">
                    <a:solidFill>
                      <a:srgbClr val="1F1B3A"/>
                    </a:solidFill>
                  </a:tcPr>
                </a:tc>
              </a:tr>
              <a:tr h="411480">
                <a:tc>
                  <a:txBody>
                    <a:bodyPr/>
                    <a:lstStyle/>
                    <a:p>
                      <a:r>
                        <a:rPr sz="1400" b="1">
                          <a:solidFill>
                            <a:srgbClr val="1F1B3A"/>
                          </a:solidFill>
                          <a:latin typeface="Calibri"/>
                        </a:rPr>
                        <a:t>SELU</a:t>
                      </a:r>
                    </a:p>
                  </a:txBody>
                  <a:tcPr marL="73152" marR="73152" marT="27432" marB="27432" anchor="ctr">
                    <a:solidFill>
                      <a:srgbClr val="EAF1FB"/>
                    </a:solidFill>
                  </a:tcPr>
                </a:tc>
                <a:tc>
                  <a:txBody>
                    <a:bodyPr/>
                    <a:lstStyle/>
                    <a:p>
                      <a:r>
                        <a:rPr sz="1400" b="1">
                          <a:solidFill>
                            <a:srgbClr val="1F1B3A"/>
                          </a:solidFill>
                          <a:latin typeface="Calibri"/>
                        </a:rPr>
                        <a:t>1.013</a:t>
                      </a:r>
                    </a:p>
                  </a:txBody>
                  <a:tcPr marL="73152" marR="73152" marT="27432" marB="27432" anchor="ctr">
                    <a:solidFill>
                      <a:srgbClr val="EAF1FB"/>
                    </a:solidFill>
                  </a:tcPr>
                </a:tc>
              </a:tr>
              <a:tr h="411480">
                <a:tc>
                  <a:txBody>
                    <a:bodyPr/>
                    <a:lstStyle/>
                    <a:p>
                      <a:r>
                        <a:rPr sz="1400" b="0">
                          <a:solidFill>
                            <a:srgbClr val="1F1B3A"/>
                          </a:solidFill>
                          <a:latin typeface="Calibri"/>
                        </a:rPr>
                        <a:t>TANH</a:t>
                      </a:r>
                    </a:p>
                  </a:txBody>
                  <a:tcPr marL="73152" marR="73152" marT="27432" marB="27432" anchor="ctr">
                    <a:solidFill>
                      <a:srgbClr val="F4F4F7"/>
                    </a:solidFill>
                  </a:tcPr>
                </a:tc>
                <a:tc>
                  <a:txBody>
                    <a:bodyPr/>
                    <a:lstStyle/>
                    <a:p>
                      <a:r>
                        <a:rPr sz="1400" b="0">
                          <a:solidFill>
                            <a:srgbClr val="1F1B3A"/>
                          </a:solidFill>
                          <a:latin typeface="Calibri"/>
                        </a:rPr>
                        <a:t>1.114</a:t>
                      </a:r>
                    </a:p>
                  </a:txBody>
                  <a:tcPr marL="73152" marR="73152" marT="27432" marB="27432" anchor="ctr">
                    <a:solidFill>
                      <a:srgbClr val="F4F4F7"/>
                    </a:solidFill>
                  </a:tcPr>
                </a:tc>
              </a:tr>
              <a:tr h="411480">
                <a:tc>
                  <a:txBody>
                    <a:bodyPr/>
                    <a:lstStyle/>
                    <a:p>
                      <a:r>
                        <a:rPr sz="1400" b="0">
                          <a:solidFill>
                            <a:srgbClr val="1F1B3A"/>
                          </a:solidFill>
                          <a:latin typeface="Calibri"/>
                        </a:rPr>
                        <a:t>ELU</a:t>
                      </a:r>
                    </a:p>
                  </a:txBody>
                  <a:tcPr marL="73152" marR="73152" marT="27432" marB="27432" anchor="ctr">
                    <a:solidFill>
                      <a:srgbClr val="FFFFFF"/>
                    </a:solidFill>
                  </a:tcPr>
                </a:tc>
                <a:tc>
                  <a:txBody>
                    <a:bodyPr/>
                    <a:lstStyle/>
                    <a:p>
                      <a:r>
                        <a:rPr sz="1400" b="0">
                          <a:solidFill>
                            <a:srgbClr val="1F1B3A"/>
                          </a:solidFill>
                          <a:latin typeface="Calibri"/>
                        </a:rPr>
                        <a:t>1.229</a:t>
                      </a:r>
                    </a:p>
                  </a:txBody>
                  <a:tcPr marL="73152" marR="73152" marT="27432" marB="27432" anchor="ctr">
                    <a:solidFill>
                      <a:srgbClr val="FFFFFF"/>
                    </a:solidFill>
                  </a:tcPr>
                </a:tc>
              </a:tr>
              <a:tr h="411480">
                <a:tc>
                  <a:txBody>
                    <a:bodyPr/>
                    <a:lstStyle/>
                    <a:p>
                      <a:r>
                        <a:rPr sz="1400" b="0">
                          <a:solidFill>
                            <a:srgbClr val="1F1B3A"/>
                          </a:solidFill>
                          <a:latin typeface="Calibri"/>
                        </a:rPr>
                        <a:t>RELU</a:t>
                      </a:r>
                    </a:p>
                  </a:txBody>
                  <a:tcPr marL="73152" marR="73152" marT="27432" marB="27432" anchor="ctr">
                    <a:solidFill>
                      <a:srgbClr val="F4F4F7"/>
                    </a:solidFill>
                  </a:tcPr>
                </a:tc>
                <a:tc>
                  <a:txBody>
                    <a:bodyPr/>
                    <a:lstStyle/>
                    <a:p>
                      <a:r>
                        <a:rPr sz="1400" b="0">
                          <a:solidFill>
                            <a:srgbClr val="1F1B3A"/>
                          </a:solidFill>
                          <a:latin typeface="Calibri"/>
                        </a:rPr>
                        <a:t>2.883</a:t>
                      </a:r>
                    </a:p>
                  </a:txBody>
                  <a:tcPr marL="73152" marR="73152" marT="27432" marB="27432" anchor="ctr">
                    <a:solidFill>
                      <a:srgbClr val="F4F4F7"/>
                    </a:solidFill>
                  </a:tcPr>
                </a:tc>
              </a:tr>
            </a:tbl>
          </a:graphicData>
        </a:graphic>
      </p:graphicFrame>
      <p:sp>
        <p:nvSpPr>
          <p:cNvPr id="8" name="TextBox 7"/>
          <p:cNvSpPr txBox="1"/>
          <p:nvPr/>
        </p:nvSpPr>
        <p:spPr>
          <a:xfrm>
            <a:off x="8321040" y="3931920"/>
            <a:ext cx="3474720" cy="1828800"/>
          </a:xfrm>
          <a:prstGeom prst="rect">
            <a:avLst/>
          </a:prstGeom>
          <a:noFill/>
        </p:spPr>
        <p:txBody>
          <a:bodyPr wrap="square" anchor="t" lIns="45720" rIns="45720">
            <a:spAutoFit/>
          </a:bodyPr>
          <a:lstStyle/>
          <a:p>
            <a:pPr algn="l"/>
            <a:r>
              <a:rPr sz="1600" b="1" i="0">
                <a:solidFill>
                  <a:srgbClr val="1F1B3A"/>
                </a:solidFill>
                <a:latin typeface="Calibri"/>
              </a:rPr>
              <a:t>SELU is best: the paper's claim is confirmed.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11</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Result 3: anime data, rating prediction and top-10 lists</a:t>
            </a:r>
          </a:p>
        </p:txBody>
      </p:sp>
      <p:graphicFrame>
        <p:nvGraphicFramePr>
          <p:cNvPr id="5" name="Chart 4"/>
          <p:cNvGraphicFramePr>
            <a:graphicFrameLocks noGrp="1"/>
          </p:cNvGraphicFramePr>
          <p:nvPr/>
        </p:nvGraphicFramePr>
        <p:xfrm>
          <a:off x="457200" y="1280160"/>
          <a:ext cx="5760720" cy="49377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309360" y="1280160"/>
          <a:ext cx="5486400" cy="4937760"/>
        </p:xfrm>
        <a:graphic>
          <a:graphicData uri="http://schemas.openxmlformats.org/drawingml/2006/chart">
            <c:chart xmlns:c="http://schemas.openxmlformats.org/drawingml/2006/chart" r:id="rId3"/>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12</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Result 4: anime embeddings and clusters</a:t>
            </a:r>
          </a:p>
        </p:txBody>
      </p:sp>
      <p:pic>
        <p:nvPicPr>
          <p:cNvPr id="5" name="Picture 4" descr="anime_embedding_tsne.png"/>
          <p:cNvPicPr>
            <a:picLocks noChangeAspect="1"/>
          </p:cNvPicPr>
          <p:nvPr/>
        </p:nvPicPr>
        <p:blipFill>
          <a:blip r:embed="rId2"/>
          <a:stretch>
            <a:fillRect/>
          </a:stretch>
        </p:blipFill>
        <p:spPr>
          <a:xfrm>
            <a:off x="457200" y="1234440"/>
            <a:ext cx="5688971" cy="5029200"/>
          </a:xfrm>
          <a:prstGeom prst="rect">
            <a:avLst/>
          </a:prstGeom>
        </p:spPr>
      </p:pic>
      <p:sp>
        <p:nvSpPr>
          <p:cNvPr id="6" name="TextBox 5"/>
          <p:cNvSpPr txBox="1"/>
          <p:nvPr/>
        </p:nvSpPr>
        <p:spPr>
          <a:xfrm>
            <a:off x="7040880" y="1371600"/>
            <a:ext cx="2377440" cy="868680"/>
          </a:xfrm>
          <a:prstGeom prst="rect">
            <a:avLst/>
          </a:prstGeom>
          <a:noFill/>
        </p:spPr>
        <p:txBody>
          <a:bodyPr wrap="square" anchor="t" lIns="45720" rIns="45720">
            <a:spAutoFit/>
          </a:bodyPr>
          <a:lstStyle/>
          <a:p>
            <a:pPr algn="l"/>
            <a:r>
              <a:rPr sz="4000" b="1" i="0">
                <a:solidFill>
                  <a:srgbClr val="2A78D6"/>
                </a:solidFill>
                <a:latin typeface="Cambria"/>
              </a:rPr>
              <a:t>0.29</a:t>
            </a:r>
          </a:p>
        </p:txBody>
      </p:sp>
      <p:sp>
        <p:nvSpPr>
          <p:cNvPr id="7" name="TextBox 6"/>
          <p:cNvSpPr txBox="1"/>
          <p:nvPr/>
        </p:nvSpPr>
        <p:spPr>
          <a:xfrm>
            <a:off x="7040880" y="2240280"/>
            <a:ext cx="2377440" cy="640080"/>
          </a:xfrm>
          <a:prstGeom prst="rect">
            <a:avLst/>
          </a:prstGeom>
          <a:noFill/>
        </p:spPr>
        <p:txBody>
          <a:bodyPr wrap="square" anchor="t" lIns="45720" rIns="45720">
            <a:spAutoFit/>
          </a:bodyPr>
          <a:lstStyle/>
          <a:p>
            <a:pPr algn="l"/>
            <a:r>
              <a:rPr sz="1300" b="0" i="0">
                <a:solidFill>
                  <a:srgbClr val="6B6880"/>
                </a:solidFill>
                <a:latin typeface="Calibri"/>
              </a:rPr>
              <a:t>genre overlap inside a cluster</a:t>
            </a:r>
          </a:p>
        </p:txBody>
      </p:sp>
      <p:sp>
        <p:nvSpPr>
          <p:cNvPr id="8" name="TextBox 7"/>
          <p:cNvSpPr txBox="1"/>
          <p:nvPr/>
        </p:nvSpPr>
        <p:spPr>
          <a:xfrm>
            <a:off x="9418320" y="1371600"/>
            <a:ext cx="2377440" cy="868680"/>
          </a:xfrm>
          <a:prstGeom prst="rect">
            <a:avLst/>
          </a:prstGeom>
          <a:noFill/>
        </p:spPr>
        <p:txBody>
          <a:bodyPr wrap="square" anchor="t" lIns="45720" rIns="45720">
            <a:spAutoFit/>
          </a:bodyPr>
          <a:lstStyle/>
          <a:p>
            <a:pPr algn="l"/>
            <a:r>
              <a:rPr sz="4000" b="1" i="0">
                <a:solidFill>
                  <a:srgbClr val="A9A8A2"/>
                </a:solidFill>
                <a:latin typeface="Cambria"/>
              </a:rPr>
              <a:t>0.11</a:t>
            </a:r>
          </a:p>
        </p:txBody>
      </p:sp>
      <p:sp>
        <p:nvSpPr>
          <p:cNvPr id="9" name="TextBox 8"/>
          <p:cNvSpPr txBox="1"/>
          <p:nvPr/>
        </p:nvSpPr>
        <p:spPr>
          <a:xfrm>
            <a:off x="9418320" y="2240280"/>
            <a:ext cx="2377440" cy="640080"/>
          </a:xfrm>
          <a:prstGeom prst="rect">
            <a:avLst/>
          </a:prstGeom>
          <a:noFill/>
        </p:spPr>
        <p:txBody>
          <a:bodyPr wrap="square" anchor="t" lIns="45720" rIns="45720">
            <a:spAutoFit/>
          </a:bodyPr>
          <a:lstStyle/>
          <a:p>
            <a:pPr algn="l"/>
            <a:r>
              <a:rPr sz="1300" b="0" i="0">
                <a:solidFill>
                  <a:srgbClr val="6B6880"/>
                </a:solidFill>
                <a:latin typeface="Calibri"/>
              </a:rPr>
              <a:t>genre overlap of random pairs</a:t>
            </a:r>
          </a:p>
        </p:txBody>
      </p:sp>
      <p:sp>
        <p:nvSpPr>
          <p:cNvPr id="10" name="TextBox 9"/>
          <p:cNvSpPr txBox="1"/>
          <p:nvPr/>
        </p:nvSpPr>
        <p:spPr>
          <a:xfrm>
            <a:off x="7040880" y="3017520"/>
            <a:ext cx="2377440" cy="868680"/>
          </a:xfrm>
          <a:prstGeom prst="rect">
            <a:avLst/>
          </a:prstGeom>
          <a:noFill/>
        </p:spPr>
        <p:txBody>
          <a:bodyPr wrap="square" anchor="t" lIns="45720" rIns="45720">
            <a:spAutoFit/>
          </a:bodyPr>
          <a:lstStyle/>
          <a:p>
            <a:pPr algn="l"/>
            <a:r>
              <a:rPr sz="4000" b="1" i="0">
                <a:solidFill>
                  <a:srgbClr val="EB6834"/>
                </a:solidFill>
                <a:latin typeface="Cambria"/>
              </a:rPr>
              <a:t>0.03</a:t>
            </a:r>
          </a:p>
        </p:txBody>
      </p:sp>
      <p:sp>
        <p:nvSpPr>
          <p:cNvPr id="11" name="TextBox 10"/>
          <p:cNvSpPr txBox="1"/>
          <p:nvPr/>
        </p:nvSpPr>
        <p:spPr>
          <a:xfrm>
            <a:off x="7040880" y="3886200"/>
            <a:ext cx="2377440" cy="640080"/>
          </a:xfrm>
          <a:prstGeom prst="rect">
            <a:avLst/>
          </a:prstGeom>
          <a:noFill/>
        </p:spPr>
        <p:txBody>
          <a:bodyPr wrap="square" anchor="t" lIns="45720" rIns="45720">
            <a:spAutoFit/>
          </a:bodyPr>
          <a:lstStyle/>
          <a:p>
            <a:pPr algn="l"/>
            <a:r>
              <a:rPr sz="1300" b="0" i="0">
                <a:solidFill>
                  <a:srgbClr val="6B6880"/>
                </a:solidFill>
                <a:latin typeface="Calibri"/>
              </a:rPr>
              <a:t>title vs its 'opposite' title</a:t>
            </a:r>
          </a:p>
        </p:txBody>
      </p:sp>
      <p:sp>
        <p:nvSpPr>
          <p:cNvPr id="12" name="TextBox 11"/>
          <p:cNvSpPr txBox="1"/>
          <p:nvPr/>
        </p:nvSpPr>
        <p:spPr>
          <a:xfrm>
            <a:off x="9418320" y="3017520"/>
            <a:ext cx="2377440" cy="868680"/>
          </a:xfrm>
          <a:prstGeom prst="rect">
            <a:avLst/>
          </a:prstGeom>
          <a:noFill/>
        </p:spPr>
        <p:txBody>
          <a:bodyPr wrap="square" anchor="t" lIns="45720" rIns="45720">
            <a:spAutoFit/>
          </a:bodyPr>
          <a:lstStyle/>
          <a:p>
            <a:pPr algn="l"/>
            <a:r>
              <a:rPr sz="4000" b="1" i="0">
                <a:solidFill>
                  <a:srgbClr val="1F1B3A"/>
                </a:solidFill>
                <a:latin typeface="Cambria"/>
              </a:rPr>
              <a:t>222</a:t>
            </a:r>
          </a:p>
        </p:txBody>
      </p:sp>
      <p:sp>
        <p:nvSpPr>
          <p:cNvPr id="13" name="TextBox 12"/>
          <p:cNvSpPr txBox="1"/>
          <p:nvPr/>
        </p:nvSpPr>
        <p:spPr>
          <a:xfrm>
            <a:off x="9418320" y="3886200"/>
            <a:ext cx="2377440" cy="640080"/>
          </a:xfrm>
          <a:prstGeom prst="rect">
            <a:avLst/>
          </a:prstGeom>
          <a:noFill/>
        </p:spPr>
        <p:txBody>
          <a:bodyPr wrap="square" anchor="t" lIns="45720" rIns="45720">
            <a:spAutoFit/>
          </a:bodyPr>
          <a:lstStyle/>
          <a:p>
            <a:pPr algn="l"/>
            <a:r>
              <a:rPr sz="1300" b="0" i="0">
                <a:solidFill>
                  <a:srgbClr val="6B6880"/>
                </a:solidFill>
                <a:latin typeface="Calibri"/>
              </a:rPr>
              <a:t>spectral clusters (median size 20)</a:t>
            </a:r>
          </a:p>
        </p:txBody>
      </p:sp>
      <p:sp>
        <p:nvSpPr>
          <p:cNvPr id="14" name="TextBox 13"/>
          <p:cNvSpPr txBox="1"/>
          <p:nvPr/>
        </p:nvSpPr>
        <p:spPr>
          <a:xfrm>
            <a:off x="7040880" y="4846320"/>
            <a:ext cx="4663440" cy="1371600"/>
          </a:xfrm>
          <a:prstGeom prst="rect">
            <a:avLst/>
          </a:prstGeom>
          <a:noFill/>
        </p:spPr>
        <p:txBody>
          <a:bodyPr wrap="square" anchor="t" lIns="45720" rIns="45720">
            <a:spAutoFit/>
          </a:bodyPr>
          <a:lstStyle/>
          <a:p>
            <a:pPr algn="l"/>
            <a:r>
              <a:rPr sz="1500" b="0" i="0">
                <a:solidFill>
                  <a:srgbClr val="3D3A55"/>
                </a:solidFill>
                <a:latin typeface="Calibri"/>
              </a:rPr>
              <a:t>Clusters group anime with shared genres; Algorithm 1 picks titles whose genres differ more than a random title's.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13</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Result 5: the hybrid filter in action</a:t>
            </a:r>
          </a:p>
        </p:txBody>
      </p:sp>
      <p:graphicFrame>
        <p:nvGraphicFramePr>
          <p:cNvPr id="5" name="Chart 4"/>
          <p:cNvGraphicFramePr>
            <a:graphicFrameLocks noGrp="1"/>
          </p:cNvGraphicFramePr>
          <p:nvPr/>
        </p:nvGraphicFramePr>
        <p:xfrm>
          <a:off x="457200" y="1280160"/>
          <a:ext cx="5669280" cy="246888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457200" y="3840480"/>
          <a:ext cx="5669280" cy="2468880"/>
        </p:xfrm>
        <a:graphic>
          <a:graphicData uri="http://schemas.openxmlformats.org/drawingml/2006/chart">
            <c:chart xmlns:c="http://schemas.openxmlformats.org/drawingml/2006/chart" r:id="rId3"/>
          </a:graphicData>
        </a:graphic>
      </p:graphicFrame>
      <p:sp>
        <p:nvSpPr>
          <p:cNvPr id="7" name="TextBox 6"/>
          <p:cNvSpPr txBox="1"/>
          <p:nvPr/>
        </p:nvSpPr>
        <p:spPr>
          <a:xfrm>
            <a:off x="6400800" y="1325880"/>
            <a:ext cx="5394960" cy="365760"/>
          </a:xfrm>
          <a:prstGeom prst="rect">
            <a:avLst/>
          </a:prstGeom>
          <a:noFill/>
        </p:spPr>
        <p:txBody>
          <a:bodyPr wrap="square" anchor="t" lIns="45720" rIns="45720">
            <a:spAutoFit/>
          </a:bodyPr>
          <a:lstStyle/>
          <a:p>
            <a:pPr algn="l"/>
            <a:r>
              <a:rPr sz="1500" b="1" i="0">
                <a:solidFill>
                  <a:srgbClr val="1F1B3A"/>
                </a:solidFill>
                <a:latin typeface="Calibri"/>
              </a:rPr>
              <a:t>Example: Kaggle user 7</a:t>
            </a:r>
          </a:p>
        </p:txBody>
      </p:sp>
      <p:graphicFrame>
        <p:nvGraphicFramePr>
          <p:cNvPr id="8" name="Table 7"/>
          <p:cNvGraphicFramePr>
            <a:graphicFrameLocks noGrp="1"/>
          </p:cNvGraphicFramePr>
          <p:nvPr/>
        </p:nvGraphicFramePr>
        <p:xfrm>
          <a:off x="6400800" y="1783080"/>
          <a:ext cx="5394960" cy="3127248"/>
        </p:xfrm>
        <a:graphic>
          <a:graphicData uri="http://schemas.openxmlformats.org/drawingml/2006/table">
            <a:tbl>
              <a:tblPr firstRow="1" bandRow="1">
                <a:tableStyleId>{5C22544A-7EE6-4342-B048-85BDC9FD1C3A}</a:tableStyleId>
              </a:tblPr>
              <a:tblGrid>
                <a:gridCol w="1280160"/>
                <a:gridCol w="3291840"/>
                <a:gridCol w="822960"/>
              </a:tblGrid>
              <a:tr h="347472">
                <a:tc>
                  <a:txBody>
                    <a:bodyPr/>
                    <a:lstStyle/>
                    <a:p>
                      <a:r>
                        <a:rPr sz="1100" b="1">
                          <a:solidFill>
                            <a:srgbClr val="FFFFFF"/>
                          </a:solidFill>
                          <a:latin typeface="Calibri"/>
                        </a:rPr>
                        <a:t>List</a:t>
                      </a:r>
                    </a:p>
                  </a:txBody>
                  <a:tcPr marL="73152" marR="73152" marT="27432" marB="27432" anchor="ctr">
                    <a:solidFill>
                      <a:srgbClr val="1F1B3A"/>
                    </a:solidFill>
                  </a:tcPr>
                </a:tc>
                <a:tc>
                  <a:txBody>
                    <a:bodyPr/>
                    <a:lstStyle/>
                    <a:p>
                      <a:r>
                        <a:rPr sz="1100" b="1">
                          <a:solidFill>
                            <a:srgbClr val="FFFFFF"/>
                          </a:solidFill>
                          <a:latin typeface="Calibri"/>
                        </a:rPr>
                        <a:t>Anime</a:t>
                      </a:r>
                    </a:p>
                  </a:txBody>
                  <a:tcPr marL="73152" marR="73152" marT="27432" marB="27432" anchor="ctr">
                    <a:solidFill>
                      <a:srgbClr val="1F1B3A"/>
                    </a:solidFill>
                  </a:tcPr>
                </a:tc>
                <a:tc>
                  <a:txBody>
                    <a:bodyPr/>
                    <a:lstStyle/>
                    <a:p>
                      <a:r>
                        <a:rPr sz="1100" b="1">
                          <a:solidFill>
                            <a:srgbClr val="FFFFFF"/>
                          </a:solidFill>
                          <a:latin typeface="Calibri"/>
                        </a:rPr>
                        <a:t>Rating</a:t>
                      </a:r>
                    </a:p>
                  </a:txBody>
                  <a:tcPr marL="73152" marR="73152" marT="27432" marB="27432" anchor="ctr">
                    <a:solidFill>
                      <a:srgbClr val="1F1B3A"/>
                    </a:solidFill>
                  </a:tcPr>
                </a:tc>
              </a:tr>
              <a:tr h="347472">
                <a:tc>
                  <a:txBody>
                    <a:bodyPr/>
                    <a:lstStyle/>
                    <a:p>
                      <a:r>
                        <a:rPr sz="1100" b="0">
                          <a:solidFill>
                            <a:srgbClr val="1F1B3A"/>
                          </a:solidFill>
                          <a:latin typeface="Calibri"/>
                        </a:rPr>
                        <a:t>Context</a:t>
                      </a:r>
                    </a:p>
                  </a:txBody>
                  <a:tcPr marL="73152" marR="73152" marT="27432" marB="27432" anchor="ctr">
                    <a:solidFill>
                      <a:srgbClr val="FFFFFF"/>
                    </a:solidFill>
                  </a:tcPr>
                </a:tc>
                <a:tc>
                  <a:txBody>
                    <a:bodyPr/>
                    <a:lstStyle/>
                    <a:p>
                      <a:r>
                        <a:rPr sz="1100" b="0">
                          <a:solidFill>
                            <a:srgbClr val="1F1B3A"/>
                          </a:solidFill>
                          <a:latin typeface="Calibri"/>
                        </a:rPr>
                        <a:t>Nisekoi: OVA</a:t>
                      </a:r>
                    </a:p>
                  </a:txBody>
                  <a:tcPr marL="73152" marR="73152" marT="27432" marB="27432" anchor="ctr">
                    <a:solidFill>
                      <a:srgbClr val="FFFFFF"/>
                    </a:solidFill>
                  </a:tcPr>
                </a:tc>
                <a:tc>
                  <a:txBody>
                    <a:bodyPr/>
                    <a:lstStyle/>
                    <a:p>
                      <a:r>
                        <a:rPr sz="1100" b="0">
                          <a:solidFill>
                            <a:srgbClr val="1F1B3A"/>
                          </a:solidFill>
                          <a:latin typeface="Calibri"/>
                        </a:rPr>
                        <a:t>5</a:t>
                      </a:r>
                    </a:p>
                  </a:txBody>
                  <a:tcPr marL="73152" marR="73152" marT="27432" marB="27432" anchor="ctr">
                    <a:solidFill>
                      <a:srgbClr val="FFFFFF"/>
                    </a:solidFill>
                  </a:tcPr>
                </a:tc>
              </a:tr>
              <a:tr h="347472">
                <a:tc>
                  <a:txBody>
                    <a:bodyPr/>
                    <a:lstStyle/>
                    <a:p>
                      <a:r>
                        <a:rPr sz="1100" b="0">
                          <a:solidFill>
                            <a:srgbClr val="1F1B3A"/>
                          </a:solidFill>
                          <a:latin typeface="Calibri"/>
                        </a:rPr>
                        <a:t>Context</a:t>
                      </a:r>
                    </a:p>
                  </a:txBody>
                  <a:tcPr marL="73152" marR="73152" marT="27432" marB="27432" anchor="ctr">
                    <a:solidFill>
                      <a:srgbClr val="F4F4F7"/>
                    </a:solidFill>
                  </a:tcPr>
                </a:tc>
                <a:tc>
                  <a:txBody>
                    <a:bodyPr/>
                    <a:lstStyle/>
                    <a:p>
                      <a:r>
                        <a:rPr sz="1100" b="0">
                          <a:solidFill>
                            <a:srgbClr val="1F1B3A"/>
                          </a:solidFill>
                          <a:latin typeface="Calibri"/>
                        </a:rPr>
                        <a:t>Planetarian: Chiisana Hoshi no Yum</a:t>
                      </a:r>
                    </a:p>
                  </a:txBody>
                  <a:tcPr marL="73152" marR="73152" marT="27432" marB="27432" anchor="ctr">
                    <a:solidFill>
                      <a:srgbClr val="F4F4F7"/>
                    </a:solidFill>
                  </a:tcPr>
                </a:tc>
                <a:tc>
                  <a:txBody>
                    <a:bodyPr/>
                    <a:lstStyle/>
                    <a:p>
                      <a:r>
                        <a:rPr sz="1100" b="0">
                          <a:solidFill>
                            <a:srgbClr val="1F1B3A"/>
                          </a:solidFill>
                          <a:latin typeface="Calibri"/>
                        </a:rPr>
                        <a:t>8</a:t>
                      </a:r>
                    </a:p>
                  </a:txBody>
                  <a:tcPr marL="73152" marR="73152" marT="27432" marB="27432" anchor="ctr">
                    <a:solidFill>
                      <a:srgbClr val="F4F4F7"/>
                    </a:solidFill>
                  </a:tcPr>
                </a:tc>
              </a:tr>
              <a:tr h="347472">
                <a:tc>
                  <a:txBody>
                    <a:bodyPr/>
                    <a:lstStyle/>
                    <a:p>
                      <a:r>
                        <a:rPr sz="1100" b="0">
                          <a:solidFill>
                            <a:srgbClr val="1F1B3A"/>
                          </a:solidFill>
                          <a:latin typeface="Calibri"/>
                        </a:rPr>
                        <a:t>Context</a:t>
                      </a:r>
                    </a:p>
                  </a:txBody>
                  <a:tcPr marL="73152" marR="73152" marT="27432" marB="27432" anchor="ctr">
                    <a:solidFill>
                      <a:srgbClr val="FFFFFF"/>
                    </a:solidFill>
                  </a:tcPr>
                </a:tc>
                <a:tc>
                  <a:txBody>
                    <a:bodyPr/>
                    <a:lstStyle/>
                    <a:p>
                      <a:r>
                        <a:rPr sz="1100" b="0">
                          <a:solidFill>
                            <a:srgbClr val="1F1B3A"/>
                          </a:solidFill>
                          <a:latin typeface="Calibri"/>
                        </a:rPr>
                        <a:t>Time Travel Shoujo: Mari Waka to 8</a:t>
                      </a:r>
                    </a:p>
                  </a:txBody>
                  <a:tcPr marL="73152" marR="73152" marT="27432" marB="27432" anchor="ctr">
                    <a:solidFill>
                      <a:srgbClr val="FFFFFF"/>
                    </a:solidFill>
                  </a:tcPr>
                </a:tc>
                <a:tc>
                  <a:txBody>
                    <a:bodyPr/>
                    <a:lstStyle/>
                    <a:p>
                      <a:r>
                        <a:rPr sz="1100" b="0">
                          <a:solidFill>
                            <a:srgbClr val="1F1B3A"/>
                          </a:solidFill>
                          <a:latin typeface="Calibri"/>
                        </a:rPr>
                        <a:t>7</a:t>
                      </a:r>
                    </a:p>
                  </a:txBody>
                  <a:tcPr marL="73152" marR="73152" marT="27432" marB="27432" anchor="ctr">
                    <a:solidFill>
                      <a:srgbClr val="FFFFFF"/>
                    </a:solidFill>
                  </a:tcPr>
                </a:tc>
              </a:tr>
              <a:tr h="347472">
                <a:tc>
                  <a:txBody>
                    <a:bodyPr/>
                    <a:lstStyle/>
                    <a:p>
                      <a:r>
                        <a:rPr sz="1100" b="0">
                          <a:solidFill>
                            <a:srgbClr val="1F1B3A"/>
                          </a:solidFill>
                          <a:latin typeface="Calibri"/>
                        </a:rPr>
                        <a:t>Similar Anime</a:t>
                      </a:r>
                    </a:p>
                  </a:txBody>
                  <a:tcPr marL="73152" marR="73152" marT="27432" marB="27432" anchor="ctr">
                    <a:solidFill>
                      <a:srgbClr val="F4F4F7"/>
                    </a:solidFill>
                  </a:tcPr>
                </a:tc>
                <a:tc>
                  <a:txBody>
                    <a:bodyPr/>
                    <a:lstStyle/>
                    <a:p>
                      <a:r>
                        <a:rPr sz="1100" b="0">
                          <a:solidFill>
                            <a:srgbClr val="1F1B3A"/>
                          </a:solidFill>
                          <a:latin typeface="Calibri"/>
                        </a:rPr>
                        <a:t>Little Busters!: Sekai no Saitou w</a:t>
                      </a:r>
                    </a:p>
                  </a:txBody>
                  <a:tcPr marL="73152" marR="73152" marT="27432" marB="27432" anchor="ctr">
                    <a:solidFill>
                      <a:srgbClr val="F4F4F7"/>
                    </a:solidFill>
                  </a:tcPr>
                </a:tc>
                <a:tc>
                  <a:txBody>
                    <a:bodyPr/>
                    <a:lstStyle/>
                    <a:p>
                      <a:r>
                        <a:rPr sz="1100" b="0">
                          <a:solidFill>
                            <a:srgbClr val="1F1B3A"/>
                          </a:solidFill>
                          <a:latin typeface="Calibri"/>
                        </a:rPr>
                        <a:t>9.08</a:t>
                      </a:r>
                    </a:p>
                  </a:txBody>
                  <a:tcPr marL="73152" marR="73152" marT="27432" marB="27432" anchor="ctr">
                    <a:solidFill>
                      <a:srgbClr val="F4F4F7"/>
                    </a:solidFill>
                  </a:tcPr>
                </a:tc>
              </a:tr>
              <a:tr h="347472">
                <a:tc>
                  <a:txBody>
                    <a:bodyPr/>
                    <a:lstStyle/>
                    <a:p>
                      <a:r>
                        <a:rPr sz="1100" b="0">
                          <a:solidFill>
                            <a:srgbClr val="1F1B3A"/>
                          </a:solidFill>
                          <a:latin typeface="Calibri"/>
                        </a:rPr>
                        <a:t>Similar Anime</a:t>
                      </a:r>
                    </a:p>
                  </a:txBody>
                  <a:tcPr marL="73152" marR="73152" marT="27432" marB="27432" anchor="ctr">
                    <a:solidFill>
                      <a:srgbClr val="FFFFFF"/>
                    </a:solidFill>
                  </a:tcPr>
                </a:tc>
                <a:tc>
                  <a:txBody>
                    <a:bodyPr/>
                    <a:lstStyle/>
                    <a:p>
                      <a:r>
                        <a:rPr sz="1100" b="0">
                          <a:solidFill>
                            <a:srgbClr val="1F1B3A"/>
                          </a:solidFill>
                          <a:latin typeface="Calibri"/>
                        </a:rPr>
                        <a:t>Gosick Recap</a:t>
                      </a:r>
                    </a:p>
                  </a:txBody>
                  <a:tcPr marL="73152" marR="73152" marT="27432" marB="27432" anchor="ctr">
                    <a:solidFill>
                      <a:srgbClr val="FFFFFF"/>
                    </a:solidFill>
                  </a:tcPr>
                </a:tc>
                <a:tc>
                  <a:txBody>
                    <a:bodyPr/>
                    <a:lstStyle/>
                    <a:p>
                      <a:r>
                        <a:rPr sz="1100" b="0">
                          <a:solidFill>
                            <a:srgbClr val="1F1B3A"/>
                          </a:solidFill>
                          <a:latin typeface="Calibri"/>
                        </a:rPr>
                        <a:t>8.72</a:t>
                      </a:r>
                    </a:p>
                  </a:txBody>
                  <a:tcPr marL="73152" marR="73152" marT="27432" marB="27432" anchor="ctr">
                    <a:solidFill>
                      <a:srgbClr val="FFFFFF"/>
                    </a:solidFill>
                  </a:tcPr>
                </a:tc>
              </a:tr>
              <a:tr h="347472">
                <a:tc>
                  <a:txBody>
                    <a:bodyPr/>
                    <a:lstStyle/>
                    <a:p>
                      <a:r>
                        <a:rPr sz="1100" b="0">
                          <a:solidFill>
                            <a:srgbClr val="1F1B3A"/>
                          </a:solidFill>
                          <a:latin typeface="Calibri"/>
                        </a:rPr>
                        <a:t>Similar Anime</a:t>
                      </a:r>
                    </a:p>
                  </a:txBody>
                  <a:tcPr marL="73152" marR="73152" marT="27432" marB="27432" anchor="ctr">
                    <a:solidFill>
                      <a:srgbClr val="F4F4F7"/>
                    </a:solidFill>
                  </a:tcPr>
                </a:tc>
                <a:tc>
                  <a:txBody>
                    <a:bodyPr/>
                    <a:lstStyle/>
                    <a:p>
                      <a:r>
                        <a:rPr sz="1100" b="0">
                          <a:solidFill>
                            <a:srgbClr val="1F1B3A"/>
                          </a:solidFill>
                          <a:latin typeface="Calibri"/>
                        </a:rPr>
                        <a:t>Kaiba</a:t>
                      </a:r>
                    </a:p>
                  </a:txBody>
                  <a:tcPr marL="73152" marR="73152" marT="27432" marB="27432" anchor="ctr">
                    <a:solidFill>
                      <a:srgbClr val="F4F4F7"/>
                    </a:solidFill>
                  </a:tcPr>
                </a:tc>
                <a:tc>
                  <a:txBody>
                    <a:bodyPr/>
                    <a:lstStyle/>
                    <a:p>
                      <a:r>
                        <a:rPr sz="1100" b="0">
                          <a:solidFill>
                            <a:srgbClr val="1F1B3A"/>
                          </a:solidFill>
                          <a:latin typeface="Calibri"/>
                        </a:rPr>
                        <a:t>8.54</a:t>
                      </a:r>
                    </a:p>
                  </a:txBody>
                  <a:tcPr marL="73152" marR="73152" marT="27432" marB="27432" anchor="ctr">
                    <a:solidFill>
                      <a:srgbClr val="F4F4F7"/>
                    </a:solidFill>
                  </a:tcPr>
                </a:tc>
              </a:tr>
              <a:tr h="347472">
                <a:tc>
                  <a:txBody>
                    <a:bodyPr/>
                    <a:lstStyle/>
                    <a:p>
                      <a:r>
                        <a:rPr sz="1100" b="0">
                          <a:solidFill>
                            <a:srgbClr val="1F1B3A"/>
                          </a:solidFill>
                          <a:latin typeface="Calibri"/>
                        </a:rPr>
                        <a:t>Similar Anime</a:t>
                      </a:r>
                    </a:p>
                  </a:txBody>
                  <a:tcPr marL="73152" marR="73152" marT="27432" marB="27432" anchor="ctr">
                    <a:solidFill>
                      <a:srgbClr val="FFFFFF"/>
                    </a:solidFill>
                  </a:tcPr>
                </a:tc>
                <a:tc>
                  <a:txBody>
                    <a:bodyPr/>
                    <a:lstStyle/>
                    <a:p>
                      <a:r>
                        <a:rPr sz="1100" b="0">
                          <a:solidFill>
                            <a:srgbClr val="1F1B3A"/>
                          </a:solidFill>
                          <a:latin typeface="Calibri"/>
                        </a:rPr>
                        <a:t>Noir</a:t>
                      </a:r>
                    </a:p>
                  </a:txBody>
                  <a:tcPr marL="73152" marR="73152" marT="27432" marB="27432" anchor="ctr">
                    <a:solidFill>
                      <a:srgbClr val="FFFFFF"/>
                    </a:solidFill>
                  </a:tcPr>
                </a:tc>
                <a:tc>
                  <a:txBody>
                    <a:bodyPr/>
                    <a:lstStyle/>
                    <a:p>
                      <a:r>
                        <a:rPr sz="1100" b="0">
                          <a:solidFill>
                            <a:srgbClr val="1F1B3A"/>
                          </a:solidFill>
                          <a:latin typeface="Calibri"/>
                        </a:rPr>
                        <a:t>8.54</a:t>
                      </a:r>
                    </a:p>
                  </a:txBody>
                  <a:tcPr marL="73152" marR="73152" marT="27432" marB="27432" anchor="ctr">
                    <a:solidFill>
                      <a:srgbClr val="FFFFFF"/>
                    </a:solidFill>
                  </a:tcPr>
                </a:tc>
              </a:tr>
              <a:tr h="347472">
                <a:tc>
                  <a:txBody>
                    <a:bodyPr/>
                    <a:lstStyle/>
                    <a:p>
                      <a:r>
                        <a:rPr sz="1100" b="0">
                          <a:solidFill>
                            <a:srgbClr val="1F1B3A"/>
                          </a:solidFill>
                          <a:latin typeface="Calibri"/>
                        </a:rPr>
                        <a:t>Similar Anime</a:t>
                      </a:r>
                    </a:p>
                  </a:txBody>
                  <a:tcPr marL="73152" marR="73152" marT="27432" marB="27432" anchor="ctr">
                    <a:solidFill>
                      <a:srgbClr val="F4F4F7"/>
                    </a:solidFill>
                  </a:tcPr>
                </a:tc>
                <a:tc>
                  <a:txBody>
                    <a:bodyPr/>
                    <a:lstStyle/>
                    <a:p>
                      <a:r>
                        <a:rPr sz="1100" b="0">
                          <a:solidFill>
                            <a:srgbClr val="1F1B3A"/>
                          </a:solidFill>
                          <a:latin typeface="Calibri"/>
                        </a:rPr>
                        <a:t>Anime Tenchou x Touhou Project</a:t>
                      </a:r>
                    </a:p>
                  </a:txBody>
                  <a:tcPr marL="73152" marR="73152" marT="27432" marB="27432" anchor="ctr">
                    <a:solidFill>
                      <a:srgbClr val="F4F4F7"/>
                    </a:solidFill>
                  </a:tcPr>
                </a:tc>
                <a:tc>
                  <a:txBody>
                    <a:bodyPr/>
                    <a:lstStyle/>
                    <a:p>
                      <a:r>
                        <a:rPr sz="1100" b="0">
                          <a:solidFill>
                            <a:srgbClr val="1F1B3A"/>
                          </a:solidFill>
                          <a:latin typeface="Calibri"/>
                        </a:rPr>
                        <a:t>8.48</a:t>
                      </a:r>
                    </a:p>
                  </a:txBody>
                  <a:tcPr marL="73152" marR="73152" marT="27432" marB="27432" anchor="ctr">
                    <a:solidFill>
                      <a:srgbClr val="F4F4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14</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What we learned</a:t>
            </a:r>
          </a:p>
        </p:txBody>
      </p:sp>
      <p:sp>
        <p:nvSpPr>
          <p:cNvPr id="5" name="Oval 4"/>
          <p:cNvSpPr/>
          <p:nvPr/>
        </p:nvSpPr>
        <p:spPr>
          <a:xfrm>
            <a:off x="640080" y="155448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6" name="TextBox 5"/>
          <p:cNvSpPr txBox="1"/>
          <p:nvPr/>
        </p:nvSpPr>
        <p:spPr>
          <a:xfrm>
            <a:off x="1325880" y="1463040"/>
            <a:ext cx="10058400" cy="457200"/>
          </a:xfrm>
          <a:prstGeom prst="rect">
            <a:avLst/>
          </a:prstGeom>
          <a:noFill/>
        </p:spPr>
        <p:txBody>
          <a:bodyPr wrap="square" anchor="t" lIns="45720" rIns="45720">
            <a:spAutoFit/>
          </a:bodyPr>
          <a:lstStyle/>
          <a:p>
            <a:pPr algn="l"/>
            <a:r>
              <a:rPr sz="2000" b="1" i="0">
                <a:solidFill>
                  <a:srgbClr val="1F1B3A"/>
                </a:solidFill>
                <a:latin typeface="Calibri"/>
              </a:rPr>
              <a:t>Pipeline works</a:t>
            </a:r>
          </a:p>
        </p:txBody>
      </p:sp>
      <p:sp>
        <p:nvSpPr>
          <p:cNvPr id="7" name="TextBox 6"/>
          <p:cNvSpPr txBox="1"/>
          <p:nvPr/>
        </p:nvSpPr>
        <p:spPr>
          <a:xfrm>
            <a:off x="1325880" y="1920240"/>
            <a:ext cx="10058400" cy="640080"/>
          </a:xfrm>
          <a:prstGeom prst="rect">
            <a:avLst/>
          </a:prstGeom>
          <a:noFill/>
        </p:spPr>
        <p:txBody>
          <a:bodyPr wrap="square" anchor="t" lIns="45720" rIns="45720">
            <a:spAutoFit/>
          </a:bodyPr>
          <a:lstStyle/>
          <a:p>
            <a:pPr algn="l"/>
            <a:r>
              <a:rPr sz="1600" b="0" i="0">
                <a:solidFill>
                  <a:srgbClr val="3D3A55"/>
                </a:solidFill>
                <a:latin typeface="Calibri"/>
              </a:rPr>
              <a:t>Every RikoNet component was implemented and produces sensible, genre-coherent lists.</a:t>
            </a:r>
          </a:p>
        </p:txBody>
      </p:sp>
      <p:sp>
        <p:nvSpPr>
          <p:cNvPr id="8" name="Oval 7"/>
          <p:cNvSpPr/>
          <p:nvPr/>
        </p:nvSpPr>
        <p:spPr>
          <a:xfrm>
            <a:off x="640080" y="27432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9" name="TextBox 8"/>
          <p:cNvSpPr txBox="1"/>
          <p:nvPr/>
        </p:nvSpPr>
        <p:spPr>
          <a:xfrm>
            <a:off x="1325880" y="2651760"/>
            <a:ext cx="10058400" cy="457200"/>
          </a:xfrm>
          <a:prstGeom prst="rect">
            <a:avLst/>
          </a:prstGeom>
          <a:noFill/>
        </p:spPr>
        <p:txBody>
          <a:bodyPr wrap="square" anchor="t" lIns="45720" rIns="45720">
            <a:spAutoFit/>
          </a:bodyPr>
          <a:lstStyle/>
          <a:p>
            <a:pPr algn="l"/>
            <a:r>
              <a:rPr sz="2000" b="1" i="0">
                <a:solidFill>
                  <a:srgbClr val="1F1B3A"/>
                </a:solidFill>
                <a:latin typeface="Calibri"/>
              </a:rPr>
              <a:t>Headline not reproduced</a:t>
            </a:r>
          </a:p>
        </p:txBody>
      </p:sp>
      <p:sp>
        <p:nvSpPr>
          <p:cNvPr id="10" name="TextBox 9"/>
          <p:cNvSpPr txBox="1"/>
          <p:nvPr/>
        </p:nvSpPr>
        <p:spPr>
          <a:xfrm>
            <a:off x="1325880" y="3108960"/>
            <a:ext cx="10058400" cy="640080"/>
          </a:xfrm>
          <a:prstGeom prst="rect">
            <a:avLst/>
          </a:prstGeom>
          <a:noFill/>
        </p:spPr>
        <p:txBody>
          <a:bodyPr wrap="square" anchor="t" lIns="45720" rIns="45720">
            <a:spAutoFit/>
          </a:bodyPr>
          <a:lstStyle/>
          <a:p>
            <a:pPr algn="l"/>
            <a:r>
              <a:rPr sz="1600" b="0" i="0">
                <a:solidFill>
                  <a:srgbClr val="3D3A55"/>
                </a:solidFill>
                <a:latin typeface="Calibri"/>
              </a:rPr>
              <a:t>MovieLens RMSE 0.942 vs 0.591 reported; about equal to a tuned baseline.</a:t>
            </a:r>
          </a:p>
        </p:txBody>
      </p:sp>
      <p:sp>
        <p:nvSpPr>
          <p:cNvPr id="11" name="Oval 10"/>
          <p:cNvSpPr/>
          <p:nvPr/>
        </p:nvSpPr>
        <p:spPr>
          <a:xfrm>
            <a:off x="640080" y="393192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12" name="TextBox 11"/>
          <p:cNvSpPr txBox="1"/>
          <p:nvPr/>
        </p:nvSpPr>
        <p:spPr>
          <a:xfrm>
            <a:off x="1325880" y="3840480"/>
            <a:ext cx="10058400" cy="457200"/>
          </a:xfrm>
          <a:prstGeom prst="rect">
            <a:avLst/>
          </a:prstGeom>
          <a:noFill/>
        </p:spPr>
        <p:txBody>
          <a:bodyPr wrap="square" anchor="t" lIns="45720" rIns="45720">
            <a:spAutoFit/>
          </a:bodyPr>
          <a:lstStyle/>
          <a:p>
            <a:pPr algn="l"/>
            <a:r>
              <a:rPr sz="2000" b="1" i="0">
                <a:solidFill>
                  <a:srgbClr val="1F1B3A"/>
                </a:solidFill>
                <a:latin typeface="Calibri"/>
              </a:rPr>
              <a:t>Reporting matters</a:t>
            </a:r>
          </a:p>
        </p:txBody>
      </p:sp>
      <p:sp>
        <p:nvSpPr>
          <p:cNvPr id="13" name="TextBox 12"/>
          <p:cNvSpPr txBox="1"/>
          <p:nvPr/>
        </p:nvSpPr>
        <p:spPr>
          <a:xfrm>
            <a:off x="1325880" y="4297680"/>
            <a:ext cx="10058400" cy="640080"/>
          </a:xfrm>
          <a:prstGeom prst="rect">
            <a:avLst/>
          </a:prstGeom>
          <a:noFill/>
        </p:spPr>
        <p:txBody>
          <a:bodyPr wrap="square" anchor="t" lIns="45720" rIns="45720">
            <a:spAutoFit/>
          </a:bodyPr>
          <a:lstStyle/>
          <a:p>
            <a:pPr algn="l"/>
            <a:r>
              <a:rPr sz="1600" b="0" i="0">
                <a:solidFill>
                  <a:srgbClr val="3D3A55"/>
                </a:solidFill>
                <a:latin typeface="Calibri"/>
              </a:rPr>
              <a:t>Unreported hyper-parameters, borrowed baseline numbers and table errors make the claim hard to verify.</a:t>
            </a:r>
          </a:p>
        </p:txBody>
      </p:sp>
      <p:sp>
        <p:nvSpPr>
          <p:cNvPr id="14" name="Oval 13"/>
          <p:cNvSpPr/>
          <p:nvPr/>
        </p:nvSpPr>
        <p:spPr>
          <a:xfrm>
            <a:off x="640080" y="512064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15" name="TextBox 14"/>
          <p:cNvSpPr txBox="1"/>
          <p:nvPr/>
        </p:nvSpPr>
        <p:spPr>
          <a:xfrm>
            <a:off x="1325880" y="5029200"/>
            <a:ext cx="10058400" cy="457200"/>
          </a:xfrm>
          <a:prstGeom prst="rect">
            <a:avLst/>
          </a:prstGeom>
          <a:noFill/>
        </p:spPr>
        <p:txBody>
          <a:bodyPr wrap="square" anchor="t" lIns="45720" rIns="45720">
            <a:spAutoFit/>
          </a:bodyPr>
          <a:lstStyle/>
          <a:p>
            <a:pPr algn="l"/>
            <a:r>
              <a:rPr sz="2000" b="1" i="0">
                <a:solidFill>
                  <a:srgbClr val="1F1B3A"/>
                </a:solidFill>
                <a:latin typeface="Calibri"/>
              </a:rPr>
              <a:t>RMSE ≠ good lists</a:t>
            </a:r>
          </a:p>
        </p:txBody>
      </p:sp>
      <p:sp>
        <p:nvSpPr>
          <p:cNvPr id="16" name="TextBox 15"/>
          <p:cNvSpPr txBox="1"/>
          <p:nvPr/>
        </p:nvSpPr>
        <p:spPr>
          <a:xfrm>
            <a:off x="1325880" y="5486400"/>
            <a:ext cx="10058400" cy="640080"/>
          </a:xfrm>
          <a:prstGeom prst="rect">
            <a:avLst/>
          </a:prstGeom>
          <a:noFill/>
        </p:spPr>
        <p:txBody>
          <a:bodyPr wrap="square" anchor="t" lIns="45720" rIns="45720">
            <a:spAutoFit/>
          </a:bodyPr>
          <a:lstStyle/>
          <a:p>
            <a:pPr algn="l"/>
            <a:r>
              <a:rPr sz="1600" b="0" i="0">
                <a:solidFill>
                  <a:srgbClr val="3D3A55"/>
                </a:solidFill>
                <a:latin typeface="Calibri"/>
              </a:rPr>
              <a:t>Rating error and top-10 quality disagree; recommenders need ranking metrics too.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1B3A"/>
        </a:solidFill>
        <a:effectLst/>
      </p:bgPr>
    </p:bg>
    <p:spTree>
      <p:nvGrpSpPr>
        <p:cNvPr id="1" name=""/>
        <p:cNvGrpSpPr/>
        <p:nvPr/>
      </p:nvGrpSpPr>
      <p:grpSpPr/>
      <p:sp>
        <p:nvSpPr>
          <p:cNvPr id="2" name="TextBox 1"/>
          <p:cNvSpPr txBox="1"/>
          <p:nvPr/>
        </p:nvSpPr>
        <p:spPr>
          <a:xfrm>
            <a:off x="731520" y="1097280"/>
            <a:ext cx="10515600" cy="914400"/>
          </a:xfrm>
          <a:prstGeom prst="rect">
            <a:avLst/>
          </a:prstGeom>
          <a:noFill/>
        </p:spPr>
        <p:txBody>
          <a:bodyPr wrap="square" anchor="t" lIns="45720" rIns="45720">
            <a:spAutoFit/>
          </a:bodyPr>
          <a:lstStyle/>
          <a:p>
            <a:pPr algn="l"/>
            <a:r>
              <a:rPr sz="4000" b="1" i="0">
                <a:solidFill>
                  <a:srgbClr val="FFFFFF"/>
                </a:solidFill>
                <a:latin typeface="Cambria"/>
              </a:rPr>
              <a:t>Conclusion &amp; future work</a:t>
            </a:r>
          </a:p>
        </p:txBody>
      </p:sp>
      <p:sp>
        <p:nvSpPr>
          <p:cNvPr id="3" name="TextBox 2"/>
          <p:cNvSpPr txBox="1"/>
          <p:nvPr/>
        </p:nvSpPr>
        <p:spPr>
          <a:xfrm>
            <a:off x="731520" y="2286000"/>
            <a:ext cx="10515600" cy="3291840"/>
          </a:xfrm>
          <a:prstGeom prst="rect">
            <a:avLst/>
          </a:prstGeom>
          <a:noFill/>
        </p:spPr>
        <p:txBody>
          <a:bodyPr wrap="square">
            <a:spAutoFit/>
          </a:bodyPr>
          <a:lstStyle/>
          <a:p>
            <a:pPr marL="256032" indent="-256032">
              <a:spcAft>
                <a:spcPts val="1400"/>
              </a:spcAft>
              <a:buChar char="•"/>
            </a:pPr>
            <a:r>
              <a:rPr sz="2000">
                <a:solidFill>
                  <a:srgbClr val="FFFFFF"/>
                </a:solidFill>
                <a:latin typeface="Calibri"/>
              </a:rPr>
              <a:t>Simplified replication of RikoNet completed: exact benchmark data, alternative anime data.</a:t>
            </a:r>
          </a:p>
          <a:p>
            <a:pPr marL="256032" indent="-256032">
              <a:spcAft>
                <a:spcPts val="1400"/>
              </a:spcAft>
              <a:buChar char="•"/>
            </a:pPr>
            <a:r>
              <a:rPr sz="2000">
                <a:solidFill>
                  <a:srgbClr val="FFFFFF"/>
                </a:solidFill>
                <a:latin typeface="Calibri"/>
              </a:rPr>
              <a:t>Our RikoNet: RMSE 0.942 on MovieLens-100K; the paper's 0.591 was not reproduced.</a:t>
            </a:r>
          </a:p>
          <a:p>
            <a:pPr marL="256032" indent="-256032">
              <a:spcAft>
                <a:spcPts val="1400"/>
              </a:spcAft>
              <a:buChar char="•"/>
            </a:pPr>
            <a:r>
              <a:rPr sz="2000">
                <a:solidFill>
                  <a:srgbClr val="FFFFFF"/>
                </a:solidFill>
                <a:latin typeface="Calibri"/>
              </a:rPr>
              <a:t>Next: ask the authors for code/data, try item-based autoencoders, run a small user study.</a:t>
            </a:r>
          </a:p>
        </p:txBody>
      </p:sp>
      <p:sp>
        <p:nvSpPr>
          <p:cNvPr id="4" name="TextBox 3"/>
          <p:cNvSpPr txBox="1"/>
          <p:nvPr/>
        </p:nvSpPr>
        <p:spPr>
          <a:xfrm>
            <a:off x="731520" y="5669280"/>
            <a:ext cx="10515600" cy="457200"/>
          </a:xfrm>
          <a:prstGeom prst="rect">
            <a:avLst/>
          </a:prstGeom>
          <a:noFill/>
        </p:spPr>
        <p:txBody>
          <a:bodyPr wrap="square" anchor="t" lIns="45720" rIns="45720">
            <a:spAutoFit/>
          </a:bodyPr>
          <a:lstStyle/>
          <a:p>
            <a:pPr algn="l"/>
            <a:r>
              <a:rPr sz="2200" b="1" i="0">
                <a:solidFill>
                  <a:srgbClr val="9FB8E8"/>
                </a:solidFill>
                <a:latin typeface="Calibri"/>
              </a:rPr>
              <a:t>Thank you - 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anchor="t" lIns="45720" rIns="45720">
            <a:spAutoFit/>
          </a:bodyPr>
          <a:lstStyle/>
          <a:p>
            <a:pPr algn="l"/>
            <a:r>
              <a:rPr sz="1000" b="0" i="0">
                <a:solidFill>
                  <a:srgbClr val="6B6880"/>
                </a:solidFill>
                <a:latin typeface="Calibri"/>
              </a:rPr>
              <a:t>RikoNet replication · ATML</a:t>
            </a:r>
          </a:p>
        </p:txBody>
      </p:sp>
      <p:sp>
        <p:nvSpPr>
          <p:cNvPr id="3" name="TextBox 2"/>
          <p:cNvSpPr txBox="1"/>
          <p:nvPr/>
        </p:nvSpPr>
        <p:spPr>
          <a:xfrm>
            <a:off x="10728655" y="6419088"/>
            <a:ext cx="914400" cy="274320"/>
          </a:xfrm>
          <a:prstGeom prst="rect">
            <a:avLst/>
          </a:prstGeom>
          <a:noFill/>
        </p:spPr>
        <p:txBody>
          <a:bodyPr wrap="square" anchor="t" lIns="45720" rIns="45720">
            <a:spAutoFit/>
          </a:bodyPr>
          <a:lstStyle/>
          <a:p>
            <a:pPr algn="r"/>
            <a:r>
              <a:rPr sz="1000" b="0" i="0">
                <a:solidFill>
                  <a:srgbClr val="6B6880"/>
                </a:solidFill>
                <a:latin typeface="Calibri"/>
              </a:rPr>
              <a:t>16</a:t>
            </a:r>
          </a:p>
        </p:txBody>
      </p:sp>
      <p:sp>
        <p:nvSpPr>
          <p:cNvPr id="4" name="TextBox 3"/>
          <p:cNvSpPr txBox="1"/>
          <p:nvPr/>
        </p:nvSpPr>
        <p:spPr>
          <a:xfrm>
            <a:off x="548640" y="347472"/>
            <a:ext cx="11094415" cy="731520"/>
          </a:xfrm>
          <a:prstGeom prst="rect">
            <a:avLst/>
          </a:prstGeom>
          <a:noFill/>
        </p:spPr>
        <p:txBody>
          <a:bodyPr wrap="square" anchor="t" lIns="45720" rIns="45720">
            <a:spAutoFit/>
          </a:bodyPr>
          <a:lstStyle/>
          <a:p>
            <a:pPr algn="l"/>
            <a:r>
              <a:rPr sz="3200" b="1" i="0">
                <a:solidFill>
                  <a:srgbClr val="1F1B3A"/>
                </a:solidFill>
                <a:latin typeface="Cambria"/>
              </a:rPr>
              <a:t>References</a:t>
            </a:r>
          </a:p>
        </p:txBody>
      </p:sp>
      <p:sp>
        <p:nvSpPr>
          <p:cNvPr id="5" name="TextBox 4"/>
          <p:cNvSpPr txBox="1"/>
          <p:nvPr/>
        </p:nvSpPr>
        <p:spPr>
          <a:xfrm>
            <a:off x="548640" y="1371600"/>
            <a:ext cx="11064240" cy="4846320"/>
          </a:xfrm>
          <a:prstGeom prst="rect">
            <a:avLst/>
          </a:prstGeom>
          <a:noFill/>
        </p:spPr>
        <p:txBody>
          <a:bodyPr wrap="square">
            <a:spAutoFit/>
          </a:bodyPr>
          <a:lstStyle/>
          <a:p>
            <a:pPr marL="256032" indent="-256032">
              <a:spcAft>
                <a:spcPts val="800"/>
              </a:spcAft>
              <a:buChar char="•"/>
            </a:pPr>
            <a:r>
              <a:rPr sz="1400">
                <a:solidFill>
                  <a:srgbClr val="1F1B3A"/>
                </a:solidFill>
                <a:latin typeface="Calibri"/>
              </a:rPr>
              <a:t>Soni B., Thakuria D., Nath N., Das N., Boro B. RikoNet: A novel anime recommendation engine. Multimedia Tools and Applications 82:32329-32348 (2023). doi:10.1007/s11042-023-14710-9</a:t>
            </a:r>
          </a:p>
          <a:p>
            <a:pPr marL="256032" indent="-256032">
              <a:spcAft>
                <a:spcPts val="800"/>
              </a:spcAft>
              <a:buChar char="•"/>
            </a:pPr>
            <a:r>
              <a:rPr sz="1400">
                <a:solidFill>
                  <a:srgbClr val="1F1B3A"/>
                </a:solidFill>
                <a:latin typeface="Calibri"/>
              </a:rPr>
              <a:t>Kuchaiev O., Ginsburg B. Training deep autoencoders for collaborative filtering. arXiv:1708.01715 (2017).</a:t>
            </a:r>
          </a:p>
          <a:p>
            <a:pPr marL="256032" indent="-256032">
              <a:spcAft>
                <a:spcPts val="800"/>
              </a:spcAft>
              <a:buChar char="•"/>
            </a:pPr>
            <a:r>
              <a:rPr sz="1400">
                <a:solidFill>
                  <a:srgbClr val="1F1B3A"/>
                </a:solidFill>
                <a:latin typeface="Calibri"/>
              </a:rPr>
              <a:t>Zelnik-Manor L., Perona P. Self-tuning spectral clustering. NIPS 17 (2004).</a:t>
            </a:r>
          </a:p>
          <a:p>
            <a:pPr marL="256032" indent="-256032">
              <a:spcAft>
                <a:spcPts val="800"/>
              </a:spcAft>
              <a:buChar char="•"/>
            </a:pPr>
            <a:r>
              <a:rPr sz="1400">
                <a:solidFill>
                  <a:srgbClr val="1F1B3A"/>
                </a:solidFill>
                <a:latin typeface="Calibri"/>
              </a:rPr>
              <a:t>Klambauer G. et al. Self-normalizing neural networks. NIPS (2017).</a:t>
            </a:r>
          </a:p>
          <a:p>
            <a:pPr marL="256032" indent="-256032">
              <a:spcAft>
                <a:spcPts val="800"/>
              </a:spcAft>
              <a:buChar char="•"/>
            </a:pPr>
            <a:r>
              <a:rPr sz="1400">
                <a:solidFill>
                  <a:srgbClr val="1F1B3A"/>
                </a:solidFill>
                <a:latin typeface="Calibri"/>
              </a:rPr>
              <a:t>Harper F. M., Konstan J. A. The MovieLens datasets: history and context. ACM TiiS 5(4) (2015).</a:t>
            </a:r>
          </a:p>
          <a:p>
            <a:pPr marL="256032" indent="-256032">
              <a:spcAft>
                <a:spcPts val="800"/>
              </a:spcAft>
              <a:buChar char="•"/>
            </a:pPr>
            <a:r>
              <a:rPr sz="1400">
                <a:solidFill>
                  <a:srgbClr val="1F1B3A"/>
                </a:solidFill>
                <a:latin typeface="Calibri"/>
              </a:rPr>
              <a:t>CooperUnion. Anime Recommendations Database, Kaggle.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